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301" r:id="rId6"/>
    <p:sldId id="260" r:id="rId7"/>
    <p:sldId id="302" r:id="rId8"/>
    <p:sldId id="292" r:id="rId9"/>
    <p:sldId id="293" r:id="rId10"/>
    <p:sldId id="282" r:id="rId11"/>
    <p:sldId id="262" r:id="rId12"/>
    <p:sldId id="263" r:id="rId13"/>
    <p:sldId id="264" r:id="rId14"/>
    <p:sldId id="296" r:id="rId15"/>
    <p:sldId id="294" r:id="rId16"/>
    <p:sldId id="295" r:id="rId17"/>
    <p:sldId id="297" r:id="rId18"/>
    <p:sldId id="298" r:id="rId19"/>
    <p:sldId id="303" r:id="rId20"/>
    <p:sldId id="299" r:id="rId21"/>
    <p:sldId id="30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96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ash Arumugam" userId="56579ef41e9f8332" providerId="LiveId" clId="{D759CECF-AD33-4F59-86BE-CED453320E06}"/>
    <pc:docChg chg="modSld">
      <pc:chgData name="Akash Arumugam" userId="56579ef41e9f8332" providerId="LiveId" clId="{D759CECF-AD33-4F59-86BE-CED453320E06}" dt="2026-04-17T05:07:15.268" v="7" actId="20577"/>
      <pc:docMkLst>
        <pc:docMk/>
      </pc:docMkLst>
      <pc:sldChg chg="modSp mod">
        <pc:chgData name="Akash Arumugam" userId="56579ef41e9f8332" providerId="LiveId" clId="{D759CECF-AD33-4F59-86BE-CED453320E06}" dt="2026-04-17T05:06:01.477" v="1" actId="20577"/>
        <pc:sldMkLst>
          <pc:docMk/>
          <pc:sldMk cId="2281473091" sldId="256"/>
        </pc:sldMkLst>
        <pc:spChg chg="mod">
          <ac:chgData name="Akash Arumugam" userId="56579ef41e9f8332" providerId="LiveId" clId="{D759CECF-AD33-4F59-86BE-CED453320E06}" dt="2026-04-17T05:06:01.477" v="1" actId="20577"/>
          <ac:spMkLst>
            <pc:docMk/>
            <pc:sldMk cId="2281473091" sldId="256"/>
            <ac:spMk id="11" creationId="{589000CA-0331-8C0A-6885-DC433DDD52A4}"/>
          </ac:spMkLst>
        </pc:spChg>
      </pc:sldChg>
      <pc:sldChg chg="modSp mod">
        <pc:chgData name="Akash Arumugam" userId="56579ef41e9f8332" providerId="LiveId" clId="{D759CECF-AD33-4F59-86BE-CED453320E06}" dt="2026-04-17T05:06:32.890" v="2" actId="255"/>
        <pc:sldMkLst>
          <pc:docMk/>
          <pc:sldMk cId="1542595028" sldId="257"/>
        </pc:sldMkLst>
        <pc:spChg chg="mod">
          <ac:chgData name="Akash Arumugam" userId="56579ef41e9f8332" providerId="LiveId" clId="{D759CECF-AD33-4F59-86BE-CED453320E06}" dt="2026-04-17T05:06:32.890" v="2" actId="255"/>
          <ac:spMkLst>
            <pc:docMk/>
            <pc:sldMk cId="1542595028" sldId="257"/>
            <ac:spMk id="4" creationId="{9C90D5D6-B37E-3AA9-6841-EE2CBA234A86}"/>
          </ac:spMkLst>
        </pc:spChg>
      </pc:sldChg>
      <pc:sldChg chg="modSp mod">
        <pc:chgData name="Akash Arumugam" userId="56579ef41e9f8332" providerId="LiveId" clId="{D759CECF-AD33-4F59-86BE-CED453320E06}" dt="2026-04-17T05:07:15.268" v="7" actId="20577"/>
        <pc:sldMkLst>
          <pc:docMk/>
          <pc:sldMk cId="182103140" sldId="303"/>
        </pc:sldMkLst>
        <pc:spChg chg="mod">
          <ac:chgData name="Akash Arumugam" userId="56579ef41e9f8332" providerId="LiveId" clId="{D759CECF-AD33-4F59-86BE-CED453320E06}" dt="2026-04-17T05:07:15.268" v="7" actId="20577"/>
          <ac:spMkLst>
            <pc:docMk/>
            <pc:sldMk cId="182103140" sldId="303"/>
            <ac:spMk id="12" creationId="{C0BA72E9-7BE9-1CEB-90AB-C02C92D35C4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02FAE0-8777-41B1-B17A-ADE942BD6CA0}" type="datetimeFigureOut">
              <a:rPr lang="en-IN" smtClean="0"/>
              <a:t>17-04-2026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91315A-1871-4983-A540-58CB1EEBEA56}" type="slidenum">
              <a:rPr lang="en-IN" smtClean="0"/>
              <a:t>‹#›</a:t>
            </a:fld>
            <a:endParaRPr lang="en-IN"/>
          </a:p>
        </p:txBody>
      </p:sp>
    </p:spTree>
    <p:extLst>
      <p:ext uri="{BB962C8B-B14F-4D97-AF65-F5344CB8AC3E}">
        <p14:creationId xmlns:p14="http://schemas.microsoft.com/office/powerpoint/2010/main" val="949026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6" name="Google Shape;16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DB98A-84BF-2797-4EEC-FE5E28BDDB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A0DEF23-9221-49F6-C475-3B0A99E06E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1AE057B-022D-7871-14CA-B22CFC29F84E}"/>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5" name="Footer Placeholder 4">
            <a:extLst>
              <a:ext uri="{FF2B5EF4-FFF2-40B4-BE49-F238E27FC236}">
                <a16:creationId xmlns:a16="http://schemas.microsoft.com/office/drawing/2014/main" id="{38882CED-E74D-9F61-D5E8-A7F7E1183F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C25088-FFFC-90C8-AC25-53259DFEFE12}"/>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1147089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1B380-4BBA-C94A-F797-9AE0F244D8D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5A5E02-7458-96F5-FCEB-158E70F6408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8614C0-E6E9-B4C2-0194-E0853033E83D}"/>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5" name="Footer Placeholder 4">
            <a:extLst>
              <a:ext uri="{FF2B5EF4-FFF2-40B4-BE49-F238E27FC236}">
                <a16:creationId xmlns:a16="http://schemas.microsoft.com/office/drawing/2014/main" id="{4CA67B7D-0012-927C-16FC-4302FF3CA7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B61659-AB6E-CEF9-5139-F4E86D33B2F3}"/>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110460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78295-47D7-08A5-7D63-6E0A304AF87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ECE0FFD-D3EE-4960-FC1C-ABAC2DB84B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3C29A8-D654-4167-0713-8B589DF25956}"/>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5" name="Footer Placeholder 4">
            <a:extLst>
              <a:ext uri="{FF2B5EF4-FFF2-40B4-BE49-F238E27FC236}">
                <a16:creationId xmlns:a16="http://schemas.microsoft.com/office/drawing/2014/main" id="{5155CB0C-4071-F6DD-D10E-0ED55E3289F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B4679B-DCCE-7658-3BC4-EA39EF0C24CD}"/>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34512149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1D6BC-88CC-973F-7255-C7A50D2330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15FA72-1F23-AB8B-34E3-EB7009A0A83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45A56E-394E-2CEC-CF21-DC6CDC6492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A51A55B-ED4B-6547-B54B-DA6E0F3C0762}"/>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6" name="Footer Placeholder 5">
            <a:extLst>
              <a:ext uri="{FF2B5EF4-FFF2-40B4-BE49-F238E27FC236}">
                <a16:creationId xmlns:a16="http://schemas.microsoft.com/office/drawing/2014/main" id="{881C96F9-DBBA-AE73-331A-B481DF8A5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A1FF512-0F09-95D4-D87F-04356A723FE6}"/>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15166220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A4382-B2CD-DD9A-7365-B4A167D16F8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256071-8EB4-6F06-17F0-2968213E13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D2F719-421C-72DA-40F4-AB7C3B8105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30B194A-ADF8-4329-425A-3D044362DE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7F1AEA8-97DC-090A-B93F-692DB3845FC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50D4360-041C-46B0-B65C-0B41630B616D}"/>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8" name="Footer Placeholder 7">
            <a:extLst>
              <a:ext uri="{FF2B5EF4-FFF2-40B4-BE49-F238E27FC236}">
                <a16:creationId xmlns:a16="http://schemas.microsoft.com/office/drawing/2014/main" id="{0BF4C049-4513-B125-18DC-5852C7722EA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4363F85-899F-0471-46CD-080FBB22F229}"/>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3179744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65EBF-789A-C731-B03C-F7AF40658BF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E60EEA8-947B-F55A-F148-D7EA95B9307C}"/>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4" name="Footer Placeholder 3">
            <a:extLst>
              <a:ext uri="{FF2B5EF4-FFF2-40B4-BE49-F238E27FC236}">
                <a16:creationId xmlns:a16="http://schemas.microsoft.com/office/drawing/2014/main" id="{E4FBDB5B-CEBE-F878-CB23-FC4BD45A9E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EB26B8D-3400-AC99-990B-2D8C5FC9FA75}"/>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2056772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1FC47E-F437-1087-7BE8-A08085CD59E0}"/>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3" name="Footer Placeholder 2">
            <a:extLst>
              <a:ext uri="{FF2B5EF4-FFF2-40B4-BE49-F238E27FC236}">
                <a16:creationId xmlns:a16="http://schemas.microsoft.com/office/drawing/2014/main" id="{8F6620D4-772F-D4C1-9000-767A31D4B58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4B094F-18CF-1C70-B1F9-89BA8D70A7AD}"/>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6791213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DA655-AA87-D9B7-7480-0FCF0D5310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664C9FD-C21E-B92B-C581-D8C76A4CD8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65F710E-50E0-5696-24A0-5AACB26E29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C09B65-C459-AB2B-A9DD-B6C1E3311855}"/>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6" name="Footer Placeholder 5">
            <a:extLst>
              <a:ext uri="{FF2B5EF4-FFF2-40B4-BE49-F238E27FC236}">
                <a16:creationId xmlns:a16="http://schemas.microsoft.com/office/drawing/2014/main" id="{FD647F93-4527-7EEF-A128-BAAC1C4559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FF2AD51-285A-809A-2ED3-044CE138C713}"/>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15126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EBCFE-9532-E3DD-0705-5CA21B202E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BFFEF7B-9DA7-5070-C40C-26F73A6BBD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54602B1-7300-3E8B-77B6-E596F79E06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94D8FB-44D6-2BE4-976D-790DB236AE9F}"/>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6" name="Footer Placeholder 5">
            <a:extLst>
              <a:ext uri="{FF2B5EF4-FFF2-40B4-BE49-F238E27FC236}">
                <a16:creationId xmlns:a16="http://schemas.microsoft.com/office/drawing/2014/main" id="{DB370ADA-FD2C-D195-A367-FC4265F40F2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E7B9F7C-3979-163F-C095-28C8352D8225}"/>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1292746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8A9CE-BF14-2044-C96A-503EBD23957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32B08C-F1A9-B6CE-35FD-A722A37F086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CDD441-40AC-5099-3E30-10BB55D7D8D1}"/>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5" name="Footer Placeholder 4">
            <a:extLst>
              <a:ext uri="{FF2B5EF4-FFF2-40B4-BE49-F238E27FC236}">
                <a16:creationId xmlns:a16="http://schemas.microsoft.com/office/drawing/2014/main" id="{B56FBAE5-A4B5-3CAE-F794-467A3803F2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727104-7A54-72A1-A02A-FD1EBCF6F11F}"/>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2990086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33C34E-365E-B6B6-11BD-E2A049AC60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500B49-3335-363D-B3D9-B581EE9DA69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852C0D-7C6E-1DBD-706B-59AA9084E210}"/>
              </a:ext>
            </a:extLst>
          </p:cNvPr>
          <p:cNvSpPr>
            <a:spLocks noGrp="1"/>
          </p:cNvSpPr>
          <p:nvPr>
            <p:ph type="dt" sz="half" idx="10"/>
          </p:nvPr>
        </p:nvSpPr>
        <p:spPr/>
        <p:txBody>
          <a:bodyPr/>
          <a:lstStyle/>
          <a:p>
            <a:fld id="{C1A183BE-EC8F-4186-BB67-3C6235D35E73}" type="datetimeFigureOut">
              <a:rPr lang="en-IN" smtClean="0"/>
              <a:t>17-04-2026</a:t>
            </a:fld>
            <a:endParaRPr lang="en-IN"/>
          </a:p>
        </p:txBody>
      </p:sp>
      <p:sp>
        <p:nvSpPr>
          <p:cNvPr id="5" name="Footer Placeholder 4">
            <a:extLst>
              <a:ext uri="{FF2B5EF4-FFF2-40B4-BE49-F238E27FC236}">
                <a16:creationId xmlns:a16="http://schemas.microsoft.com/office/drawing/2014/main" id="{CF2E39EE-BB00-BBDB-565D-3417A2B933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478B9E-E098-EE00-B547-1041D2315AFA}"/>
              </a:ext>
            </a:extLst>
          </p:cNvPr>
          <p:cNvSpPr>
            <a:spLocks noGrp="1"/>
          </p:cNvSpPr>
          <p:nvPr>
            <p:ph type="sldNum" sz="quarter" idx="12"/>
          </p:nvPr>
        </p:nvSpPr>
        <p:spPr/>
        <p:txBody>
          <a:bodyPr/>
          <a:lstStyle/>
          <a:p>
            <a:fld id="{BCC78895-C998-494E-AD68-06C788F07F3D}" type="slidenum">
              <a:rPr lang="en-IN" smtClean="0"/>
              <a:t>‹#›</a:t>
            </a:fld>
            <a:endParaRPr lang="en-IN"/>
          </a:p>
        </p:txBody>
      </p:sp>
    </p:spTree>
    <p:extLst>
      <p:ext uri="{BB962C8B-B14F-4D97-AF65-F5344CB8AC3E}">
        <p14:creationId xmlns:p14="http://schemas.microsoft.com/office/powerpoint/2010/main" val="241856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47299D-7E6C-F11C-8807-26C57D4D50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F3F31C-6D8F-DDF7-0A42-19B74FC7B9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0F738E-5F57-59E1-36CA-887BA5F0DD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A183BE-EC8F-4186-BB67-3C6235D35E73}" type="datetimeFigureOut">
              <a:rPr lang="en-IN" smtClean="0"/>
              <a:t>17-04-2026</a:t>
            </a:fld>
            <a:endParaRPr lang="en-IN"/>
          </a:p>
        </p:txBody>
      </p:sp>
      <p:sp>
        <p:nvSpPr>
          <p:cNvPr id="5" name="Footer Placeholder 4">
            <a:extLst>
              <a:ext uri="{FF2B5EF4-FFF2-40B4-BE49-F238E27FC236}">
                <a16:creationId xmlns:a16="http://schemas.microsoft.com/office/drawing/2014/main" id="{9E6BF522-BF06-E7BC-9444-FF6D365312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906D5A9-47F5-F849-1CCF-61F248A8D5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C78895-C998-494E-AD68-06C788F07F3D}" type="slidenum">
              <a:rPr lang="en-IN" smtClean="0"/>
              <a:t>‹#›</a:t>
            </a:fld>
            <a:endParaRPr lang="en-IN"/>
          </a:p>
        </p:txBody>
      </p:sp>
    </p:spTree>
    <p:extLst>
      <p:ext uri="{BB962C8B-B14F-4D97-AF65-F5344CB8AC3E}">
        <p14:creationId xmlns:p14="http://schemas.microsoft.com/office/powerpoint/2010/main" val="40911761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57781-62EF-6479-86FB-E8F176E35F19}"/>
              </a:ext>
            </a:extLst>
          </p:cNvPr>
          <p:cNvSpPr>
            <a:spLocks noGrp="1"/>
          </p:cNvSpPr>
          <p:nvPr>
            <p:ph type="ctrTitle"/>
          </p:nvPr>
        </p:nvSpPr>
        <p:spPr>
          <a:xfrm>
            <a:off x="1556950" y="1462386"/>
            <a:ext cx="9111049" cy="1688587"/>
          </a:xfrm>
        </p:spPr>
        <p:txBody>
          <a:bodyPr>
            <a:normAutofit fontScale="90000"/>
          </a:bodyPr>
          <a:lstStyle/>
          <a:p>
            <a:r>
              <a:rPr lang="en-US" sz="2400" b="1" dirty="0">
                <a:latin typeface="Arial" panose="020B0604020202020204" pitchFamily="34" charset="0"/>
                <a:cs typeface="Arial" panose="020B0604020202020204" pitchFamily="34" charset="0"/>
              </a:rPr>
              <a:t>DEPARTMENT OF ELECTRONICS AND COMMUNICATION ENGINEERING</a:t>
            </a:r>
            <a:br>
              <a:rPr lang="en-US" sz="2400" b="1"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r>
              <a:rPr lang="en-US" sz="3100" b="1" dirty="0">
                <a:latin typeface="Times New Roman" panose="02020603050405020304" pitchFamily="18" charset="0"/>
                <a:cs typeface="Times New Roman" panose="02020603050405020304" pitchFamily="18" charset="0"/>
              </a:rPr>
              <a:t>Eco-geological environmental coal mining protection based on wearers’ vital Smart jackets</a:t>
            </a:r>
            <a:endParaRPr lang="en-IN" sz="3100" b="1"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C4FE34CE-BCD1-2AE2-8BBB-D62DF4194527}"/>
              </a:ext>
            </a:extLst>
          </p:cNvPr>
          <p:cNvPicPr>
            <a:picLocks noChangeAspect="1"/>
          </p:cNvPicPr>
          <p:nvPr/>
        </p:nvPicPr>
        <p:blipFill>
          <a:blip r:embed="rId2"/>
          <a:stretch>
            <a:fillRect/>
          </a:stretch>
        </p:blipFill>
        <p:spPr>
          <a:xfrm>
            <a:off x="2726357" y="197708"/>
            <a:ext cx="6739285" cy="1135561"/>
          </a:xfrm>
          <a:prstGeom prst="rect">
            <a:avLst/>
          </a:prstGeom>
        </p:spPr>
      </p:pic>
      <p:sp>
        <p:nvSpPr>
          <p:cNvPr id="5" name="TextBox 4">
            <a:extLst>
              <a:ext uri="{FF2B5EF4-FFF2-40B4-BE49-F238E27FC236}">
                <a16:creationId xmlns:a16="http://schemas.microsoft.com/office/drawing/2014/main" id="{2C9F61EF-4691-F0DA-ECE7-1B3EF4653EEF}"/>
              </a:ext>
            </a:extLst>
          </p:cNvPr>
          <p:cNvSpPr txBox="1"/>
          <p:nvPr/>
        </p:nvSpPr>
        <p:spPr>
          <a:xfrm>
            <a:off x="864972" y="1462386"/>
            <a:ext cx="9588843"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               </a:t>
            </a:r>
            <a:endParaRPr lang="en-IN" dirty="0"/>
          </a:p>
        </p:txBody>
      </p:sp>
      <p:sp>
        <p:nvSpPr>
          <p:cNvPr id="7" name="TextBox 6">
            <a:extLst>
              <a:ext uri="{FF2B5EF4-FFF2-40B4-BE49-F238E27FC236}">
                <a16:creationId xmlns:a16="http://schemas.microsoft.com/office/drawing/2014/main" id="{F33E5D22-EAD9-428F-F70F-3956DE7D2EE6}"/>
              </a:ext>
            </a:extLst>
          </p:cNvPr>
          <p:cNvSpPr txBox="1"/>
          <p:nvPr/>
        </p:nvSpPr>
        <p:spPr>
          <a:xfrm>
            <a:off x="3049030" y="3244334"/>
            <a:ext cx="6098058" cy="369332"/>
          </a:xfrm>
          <a:prstGeom prst="rect">
            <a:avLst/>
          </a:prstGeom>
          <a:noFill/>
        </p:spPr>
        <p:txBody>
          <a:bodyPr wrap="square">
            <a:spAutoFit/>
          </a:bodyPr>
          <a:lstStyle/>
          <a:p>
            <a:r>
              <a:rPr lang="en-IN" sz="1800" dirty="0">
                <a:solidFill>
                  <a:schemeClr val="tx1"/>
                </a:solidFill>
                <a:latin typeface="Arial" panose="020B0604020202020204" pitchFamily="34" charset="0"/>
                <a:cs typeface="Arial" panose="020B0604020202020204" pitchFamily="34" charset="0"/>
              </a:rPr>
              <a:t>                                 BATCH NO : 03</a:t>
            </a:r>
            <a:endParaRPr lang="en-IN" dirty="0"/>
          </a:p>
        </p:txBody>
      </p:sp>
      <p:sp>
        <p:nvSpPr>
          <p:cNvPr id="9" name="TextBox 8">
            <a:extLst>
              <a:ext uri="{FF2B5EF4-FFF2-40B4-BE49-F238E27FC236}">
                <a16:creationId xmlns:a16="http://schemas.microsoft.com/office/drawing/2014/main" id="{3E464E33-1B93-0335-C7B7-5CA74B43D550}"/>
              </a:ext>
            </a:extLst>
          </p:cNvPr>
          <p:cNvSpPr txBox="1"/>
          <p:nvPr/>
        </p:nvSpPr>
        <p:spPr>
          <a:xfrm>
            <a:off x="1331441" y="4247287"/>
            <a:ext cx="6098058" cy="1477328"/>
          </a:xfrm>
          <a:prstGeom prst="rect">
            <a:avLst/>
          </a:prstGeom>
          <a:noFill/>
        </p:spPr>
        <p:txBody>
          <a:bodyPr wrap="square">
            <a:spAutoFit/>
          </a:bodyPr>
          <a:lstStyle/>
          <a:p>
            <a:pPr algn="l"/>
            <a:r>
              <a:rPr lang="en-IN" sz="1800" dirty="0">
                <a:solidFill>
                  <a:schemeClr val="tx1"/>
                </a:solidFill>
                <a:latin typeface="Arial" panose="020B0604020202020204" pitchFamily="34" charset="0"/>
                <a:cs typeface="Arial" panose="020B0604020202020204" pitchFamily="34" charset="0"/>
              </a:rPr>
              <a:t>BATCH MEMBERS  </a:t>
            </a:r>
          </a:p>
          <a:p>
            <a:pPr algn="l"/>
            <a:r>
              <a:rPr lang="en-US" altLang="en-IN" sz="1800" dirty="0">
                <a:solidFill>
                  <a:schemeClr val="tx1"/>
                </a:solidFill>
                <a:latin typeface="Arial" panose="020B0604020202020204" pitchFamily="34" charset="0"/>
                <a:cs typeface="Arial" panose="020B0604020202020204" pitchFamily="34" charset="0"/>
              </a:rPr>
              <a:t>NAME </a:t>
            </a:r>
            <a:r>
              <a:rPr lang="en-IN" sz="1800" dirty="0">
                <a:solidFill>
                  <a:schemeClr val="tx1"/>
                </a:solidFill>
                <a:latin typeface="Arial" panose="020B0604020202020204" pitchFamily="34" charset="0"/>
                <a:cs typeface="Arial" panose="020B0604020202020204" pitchFamily="34" charset="0"/>
              </a:rPr>
              <a:t>	</a:t>
            </a:r>
            <a:r>
              <a:rPr lang="en-US" altLang="en-IN" sz="1800" dirty="0">
                <a:solidFill>
                  <a:schemeClr val="tx1"/>
                </a:solidFill>
                <a:latin typeface="Arial" panose="020B0604020202020204" pitchFamily="34" charset="0"/>
                <a:cs typeface="Arial" panose="020B0604020202020204" pitchFamily="34" charset="0"/>
              </a:rPr>
              <a:t> </a:t>
            </a:r>
            <a:r>
              <a:rPr lang="en-US" sz="1800" dirty="0">
                <a:latin typeface="Arial" panose="020B0604020202020204" pitchFamily="34" charset="0"/>
                <a:cs typeface="Arial" panose="020B0604020202020204" pitchFamily="34" charset="0"/>
              </a:rPr>
              <a:t>: A.AKASH</a:t>
            </a:r>
            <a:r>
              <a:rPr lang="en-US" altLang="en-IN" sz="1800" dirty="0">
                <a:latin typeface="Arial" panose="020B0604020202020204" pitchFamily="34" charset="0"/>
                <a:cs typeface="Arial" panose="020B0604020202020204" pitchFamily="34" charset="0"/>
              </a:rPr>
              <a:t> (2210811011002)</a:t>
            </a:r>
          </a:p>
          <a:p>
            <a:r>
              <a:rPr lang="en-US" sz="1800" dirty="0">
                <a:latin typeface="Arial" panose="020B0604020202020204" pitchFamily="34" charset="0"/>
                <a:cs typeface="Arial" panose="020B0604020202020204" pitchFamily="34" charset="0"/>
              </a:rPr>
              <a:t>                 M.GAURAV (221081101035)</a:t>
            </a:r>
          </a:p>
          <a:p>
            <a:r>
              <a:rPr lang="en-US" sz="1800" dirty="0">
                <a:latin typeface="Arial" panose="020B0604020202020204" pitchFamily="34" charset="0"/>
                <a:cs typeface="Arial" panose="020B0604020202020204" pitchFamily="34" charset="0"/>
              </a:rPr>
              <a:t>                 S.GOWTHAM(221081101039)</a:t>
            </a:r>
          </a:p>
          <a:p>
            <a:r>
              <a:rPr lang="en-US" sz="1800" dirty="0">
                <a:latin typeface="Arial" panose="020B0604020202020204" pitchFamily="34" charset="0"/>
                <a:cs typeface="Arial" panose="020B0604020202020204" pitchFamily="34" charset="0"/>
              </a:rPr>
              <a:t>                 R.DHINAKARAN(221081101626)</a:t>
            </a:r>
            <a:endParaRPr lang="en-IN" sz="18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589000CA-0331-8C0A-6885-DC433DDD52A4}"/>
              </a:ext>
            </a:extLst>
          </p:cNvPr>
          <p:cNvSpPr txBox="1"/>
          <p:nvPr/>
        </p:nvSpPr>
        <p:spPr>
          <a:xfrm>
            <a:off x="8683711" y="4339620"/>
            <a:ext cx="3216189" cy="646331"/>
          </a:xfrm>
          <a:prstGeom prst="rect">
            <a:avLst/>
          </a:prstGeom>
          <a:noFill/>
        </p:spPr>
        <p:txBody>
          <a:bodyPr wrap="square">
            <a:spAutoFit/>
          </a:bodyPr>
          <a:lstStyle/>
          <a:p>
            <a:pPr algn="l"/>
            <a:r>
              <a:rPr lang="en-US" sz="1800" b="0" cap="none" dirty="0">
                <a:solidFill>
                  <a:schemeClr val="tx1"/>
                </a:solidFill>
                <a:latin typeface="Arial" panose="020B0604020202020204" pitchFamily="34" charset="0"/>
                <a:cs typeface="Arial" panose="020B0604020202020204" pitchFamily="34" charset="0"/>
              </a:rPr>
              <a:t>GUIDE NAME</a:t>
            </a:r>
          </a:p>
          <a:p>
            <a:pPr algn="l"/>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Dr.M.KUMERESAN</a:t>
            </a:r>
            <a:endParaRPr lang="en-IN" dirty="0"/>
          </a:p>
        </p:txBody>
      </p:sp>
    </p:spTree>
    <p:extLst>
      <p:ext uri="{BB962C8B-B14F-4D97-AF65-F5344CB8AC3E}">
        <p14:creationId xmlns:p14="http://schemas.microsoft.com/office/powerpoint/2010/main" val="228147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187E0-2C1A-23DE-0FE7-DF9E207BBF98}"/>
              </a:ext>
            </a:extLst>
          </p:cNvPr>
          <p:cNvSpPr>
            <a:spLocks noGrp="1"/>
          </p:cNvSpPr>
          <p:nvPr>
            <p:ph type="title"/>
          </p:nvPr>
        </p:nvSpPr>
        <p:spPr>
          <a:xfrm>
            <a:off x="353961" y="365125"/>
            <a:ext cx="10999839" cy="1325563"/>
          </a:xfrm>
        </p:spPr>
        <p:txBody>
          <a:bodyPr/>
          <a:lstStyle/>
          <a:p>
            <a:r>
              <a:rPr lang="en-US" sz="2800" b="1" dirty="0">
                <a:latin typeface="Arial" panose="020B0604020202020204" pitchFamily="34" charset="0"/>
                <a:cs typeface="Arial" panose="020B0604020202020204" pitchFamily="34" charset="0"/>
              </a:rPr>
              <a:t>ABSTRACT</a:t>
            </a:r>
            <a:r>
              <a:rPr lang="en-US" dirty="0"/>
              <a:t>:</a:t>
            </a:r>
            <a:endParaRPr lang="en-IN" dirty="0"/>
          </a:p>
        </p:txBody>
      </p:sp>
      <p:sp>
        <p:nvSpPr>
          <p:cNvPr id="4" name="Rectangle 1">
            <a:extLst>
              <a:ext uri="{FF2B5EF4-FFF2-40B4-BE49-F238E27FC236}">
                <a16:creationId xmlns:a16="http://schemas.microsoft.com/office/drawing/2014/main" id="{9C90D5D6-B37E-3AA9-6841-EE2CBA234A86}"/>
              </a:ext>
            </a:extLst>
          </p:cNvPr>
          <p:cNvSpPr>
            <a:spLocks noGrp="1" noChangeArrowheads="1"/>
          </p:cNvSpPr>
          <p:nvPr>
            <p:ph idx="1"/>
          </p:nvPr>
        </p:nvSpPr>
        <p:spPr bwMode="auto">
          <a:xfrm>
            <a:off x="197708" y="1847694"/>
            <a:ext cx="1184264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project designs a smart IoT-based helmet and safety jacket to improve safety for coal mining workers by</a:t>
            </a:r>
          </a:p>
          <a:p>
            <a:pPr marL="0" indent="0" algn="just"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 monitoring environmental and health conditions in real time.</a:t>
            </a:r>
          </a:p>
          <a:p>
            <a:pPr algn="just"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helmet includes sensors to measure temperature and humidity (DHT11), detect harmful gases like methane </a:t>
            </a:r>
          </a:p>
          <a:p>
            <a:pPr marL="0" indent="0" algn="just"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and carbon monoxide (MQ gas sensor), and identify falls or abnormal head movements (IMU sensor).</a:t>
            </a:r>
          </a:p>
          <a:p>
            <a:pPr algn="just"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The jacket contains health-monitoring sensors such as a SpO₂ sensor (oxygen level in blood), body temperature</a:t>
            </a:r>
          </a:p>
          <a:p>
            <a:pPr marL="0" indent="0" algn="just"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 sensor, and pressure sensor to detect health issues and underground pressure changes.</a:t>
            </a:r>
          </a:p>
          <a:p>
            <a:pPr algn="just" eaLnBrk="0" fontAlgn="base" hangingPunct="0">
              <a:lnSpc>
                <a:spcPct val="15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All data is sent to a remote monitoring system through an IoT microcontroller. If dangerous conditions or health </a:t>
            </a:r>
          </a:p>
          <a:p>
            <a:pPr marL="0" indent="0" algn="just" eaLnBrk="0" fontAlgn="base" hangingPunct="0">
              <a:lnSpc>
                <a:spcPct val="15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problems are detected , automatic alerts are sent for immediate rescue action.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425950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50B79-CD13-9240-AE27-A8C432EEFDA8}"/>
              </a:ext>
            </a:extLst>
          </p:cNvPr>
          <p:cNvSpPr>
            <a:spLocks noGrp="1"/>
          </p:cNvSpPr>
          <p:nvPr>
            <p:ph type="title"/>
          </p:nvPr>
        </p:nvSpPr>
        <p:spPr/>
        <p:txBody>
          <a:bodyPr>
            <a:normAutofit/>
          </a:bodyPr>
          <a:lstStyle/>
          <a:p>
            <a:r>
              <a:rPr lang="en-US" sz="2800" b="1" dirty="0">
                <a:latin typeface="Arial" panose="020B0604020202020204" pitchFamily="34" charset="0"/>
                <a:cs typeface="Arial" panose="020B0604020202020204" pitchFamily="34" charset="0"/>
              </a:rPr>
              <a:t>INTRODUCTION</a:t>
            </a:r>
            <a:r>
              <a:rPr lang="en-US" sz="3600" b="1" dirty="0">
                <a:latin typeface="Arial" panose="020B0604020202020204" pitchFamily="34" charset="0"/>
                <a:cs typeface="Arial" panose="020B0604020202020204" pitchFamily="34" charset="0"/>
              </a:rPr>
              <a:t> :</a:t>
            </a:r>
            <a:endParaRPr lang="en-IN" sz="36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AC71D82A-340A-82D7-B6BF-6C06402D4CDA}"/>
              </a:ext>
            </a:extLst>
          </p:cNvPr>
          <p:cNvSpPr>
            <a:spLocks noGrp="1"/>
          </p:cNvSpPr>
          <p:nvPr>
            <p:ph idx="1"/>
          </p:nvPr>
        </p:nvSpPr>
        <p:spPr>
          <a:xfrm>
            <a:off x="553064" y="1501161"/>
            <a:ext cx="11412793" cy="5096284"/>
          </a:xfrm>
        </p:spPr>
        <p:txBody>
          <a:bodyPr>
            <a:normAutofit fontScale="92500" lnSpcReduction="20000"/>
          </a:bodyPr>
          <a:lstStyle/>
          <a:p>
            <a:pPr algn="just">
              <a:lnSpc>
                <a:spcPct val="150000"/>
              </a:lnSpc>
            </a:pPr>
            <a:r>
              <a:rPr lang="en-US" sz="1900" dirty="0">
                <a:latin typeface="Arial" panose="020B0604020202020204" pitchFamily="34" charset="0"/>
                <a:cs typeface="Arial" panose="020B0604020202020204" pitchFamily="34" charset="0"/>
              </a:rPr>
              <a:t>Coal mining remains one of the most dangerous occupations worldwide. Workers are constantly exposed to hazardous gases such as methane (CH₄) and carbon monoxide (CO), oxygen-deficient environments, high temperatures, humidity, and underground pressure variations. In addition, accidents such as roof collapses, falls, and sudden health issues increase the risk of fatal injuries.</a:t>
            </a:r>
          </a:p>
          <a:p>
            <a:pPr algn="just">
              <a:lnSpc>
                <a:spcPct val="150000"/>
              </a:lnSpc>
            </a:pPr>
            <a:r>
              <a:rPr lang="en-US" sz="1900" dirty="0">
                <a:latin typeface="Arial" panose="020B0604020202020204" pitchFamily="34" charset="0"/>
                <a:cs typeface="Arial" panose="020B0604020202020204" pitchFamily="34" charset="0"/>
              </a:rPr>
              <a:t>Traditional safety systems in coal mines primarily focus on environmental monitoring at fixed locations and do not continuously track individual worker health conditions. This creates a delay in emergency detection and rescue operations.</a:t>
            </a:r>
          </a:p>
          <a:p>
            <a:pPr algn="just">
              <a:lnSpc>
                <a:spcPct val="150000"/>
              </a:lnSpc>
            </a:pPr>
            <a:r>
              <a:rPr lang="en-US" sz="1900" dirty="0">
                <a:latin typeface="Arial" panose="020B0604020202020204" pitchFamily="34" charset="0"/>
                <a:cs typeface="Arial" panose="020B0604020202020204" pitchFamily="34" charset="0"/>
              </a:rPr>
              <a:t>To overcome these limitations, this project proposes a wearable IoT-based safety monitoring system integrated into a smart helmet and jacket. The helmet includes environmental and motion sensors such as DHT11 (temperature and humidity), gas sensors, and an IMU angle sensor. The jacket integrates health-monitoring sensors, including SpO₂, body temperature, and pressure. All collected data is transmitted in real time to a monitoring station through IoT technology, ensuring immediate detection of unsafe conditions and faster emergency response.</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7699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0E85D1-6DB3-DD35-74FB-B3B2C6CF12E9}"/>
              </a:ext>
            </a:extLst>
          </p:cNvPr>
          <p:cNvPicPr>
            <a:picLocks noGrp="1" noChangeAspect="1"/>
          </p:cNvPicPr>
          <p:nvPr>
            <p:ph idx="1"/>
          </p:nvPr>
        </p:nvPicPr>
        <p:blipFill>
          <a:blip r:embed="rId2"/>
          <a:stretch>
            <a:fillRect/>
          </a:stretch>
        </p:blipFill>
        <p:spPr>
          <a:xfrm>
            <a:off x="1679722" y="945202"/>
            <a:ext cx="9099852" cy="4967595"/>
          </a:xfrm>
          <a:prstGeom prst="rect">
            <a:avLst/>
          </a:prstGeom>
        </p:spPr>
      </p:pic>
    </p:spTree>
    <p:extLst>
      <p:ext uri="{BB962C8B-B14F-4D97-AF65-F5344CB8AC3E}">
        <p14:creationId xmlns:p14="http://schemas.microsoft.com/office/powerpoint/2010/main" val="16821017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675EC89-220C-F32F-D4AB-3C89DDD6C9EC}"/>
              </a:ext>
            </a:extLst>
          </p:cNvPr>
          <p:cNvSpPr txBox="1"/>
          <p:nvPr/>
        </p:nvSpPr>
        <p:spPr>
          <a:xfrm>
            <a:off x="614750" y="185447"/>
            <a:ext cx="6098058" cy="523220"/>
          </a:xfrm>
          <a:prstGeom prst="rect">
            <a:avLst/>
          </a:prstGeom>
          <a:noFill/>
        </p:spPr>
        <p:txBody>
          <a:bodyPr wrap="square">
            <a:spAutoFit/>
          </a:bodyPr>
          <a:lstStyle/>
          <a:p>
            <a:r>
              <a:rPr lang="en-US" sz="2800" b="1" dirty="0">
                <a:latin typeface="Arial" panose="020B0604020202020204" pitchFamily="34" charset="0"/>
                <a:cs typeface="Arial" panose="020B0604020202020204" pitchFamily="34" charset="0"/>
              </a:rPr>
              <a:t>PROBLEM STATEMENT :</a:t>
            </a:r>
            <a:endParaRPr lang="en-IN" sz="2800" dirty="0"/>
          </a:p>
        </p:txBody>
      </p:sp>
      <p:sp>
        <p:nvSpPr>
          <p:cNvPr id="7" name="TextBox 6">
            <a:extLst>
              <a:ext uri="{FF2B5EF4-FFF2-40B4-BE49-F238E27FC236}">
                <a16:creationId xmlns:a16="http://schemas.microsoft.com/office/drawing/2014/main" id="{59FEF812-AE05-96FC-12E0-855665D52814}"/>
              </a:ext>
            </a:extLst>
          </p:cNvPr>
          <p:cNvSpPr txBox="1"/>
          <p:nvPr/>
        </p:nvSpPr>
        <p:spPr>
          <a:xfrm>
            <a:off x="614750" y="874853"/>
            <a:ext cx="10313080" cy="4524315"/>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Coal mining operations present significant eco-geological and environmental challenges, including land degradation, gas emissions, dust pollution, temperature extremes, and geological instability. These hazardous conditions not only impact the surrounding ecosystem but also expose miners to serious health risks such as respiratory disorders, heat stress, oxygen deficiency, and sudden cardiac events. Although environmental monitoring systems are commonly deployed in mines, they often function independently of workers’ health monitoring, limiting their ability to provide comprehensive, real-time risk assessment and early warning during critical situations.</a:t>
            </a:r>
          </a:p>
          <a:p>
            <a:pPr algn="just">
              <a:buNone/>
            </a:pPr>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There is a pressing need for an integrated safety solution that simultaneously monitors environmental parameters and miners’ vital signs. Smart jackets embedded with physiological and environmental sensors can offer continuous tracking of heart rate, body temperature, respiration, blood oxygen levels, and toxic gas concentrations. By combining wearable technology with intelligent data analytics and real-time alert systems, such a solution can enhance worker safety, reduce accident rates, support eco-geological protection efforts, and promote sustainable coal mining practices</a:t>
            </a:r>
          </a:p>
        </p:txBody>
      </p:sp>
    </p:spTree>
    <p:extLst>
      <p:ext uri="{BB962C8B-B14F-4D97-AF65-F5344CB8AC3E}">
        <p14:creationId xmlns:p14="http://schemas.microsoft.com/office/powerpoint/2010/main" val="510237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4EBFE-46D4-F678-540F-CBB0B52BFFA3}"/>
              </a:ext>
            </a:extLst>
          </p:cNvPr>
          <p:cNvSpPr>
            <a:spLocks noGrp="1"/>
          </p:cNvSpPr>
          <p:nvPr>
            <p:ph type="title"/>
          </p:nvPr>
        </p:nvSpPr>
        <p:spPr>
          <a:xfrm>
            <a:off x="531341" y="365125"/>
            <a:ext cx="10822459" cy="1325563"/>
          </a:xfrm>
        </p:spPr>
        <p:txBody>
          <a:bodyPr/>
          <a:lstStyle/>
          <a:p>
            <a:r>
              <a:rPr lang="en-US" sz="2800" b="1" dirty="0">
                <a:latin typeface="Arial" panose="020B0604020202020204" pitchFamily="34" charset="0"/>
                <a:cs typeface="Arial" panose="020B0604020202020204" pitchFamily="34" charset="0"/>
              </a:rPr>
              <a:t>OBJECTIVES</a:t>
            </a:r>
            <a:r>
              <a:rPr lang="en-US" sz="3600" b="1" dirty="0">
                <a:latin typeface="Arial" panose="020B0604020202020204" pitchFamily="34" charset="0"/>
                <a:cs typeface="Arial" panose="020B0604020202020204" pitchFamily="34" charset="0"/>
              </a:rPr>
              <a:t>:</a:t>
            </a:r>
            <a:br>
              <a:rPr lang="en-US" b="1" dirty="0"/>
            </a:br>
            <a:endParaRPr lang="en-IN" dirty="0"/>
          </a:p>
        </p:txBody>
      </p:sp>
      <p:sp>
        <p:nvSpPr>
          <p:cNvPr id="3" name="Content Placeholder 2">
            <a:extLst>
              <a:ext uri="{FF2B5EF4-FFF2-40B4-BE49-F238E27FC236}">
                <a16:creationId xmlns:a16="http://schemas.microsoft.com/office/drawing/2014/main" id="{612E6CA3-4EBA-321E-9889-0DE0C193E0AC}"/>
              </a:ext>
            </a:extLst>
          </p:cNvPr>
          <p:cNvSpPr>
            <a:spLocks noGrp="1"/>
          </p:cNvSpPr>
          <p:nvPr>
            <p:ph idx="1"/>
          </p:nvPr>
        </p:nvSpPr>
        <p:spPr>
          <a:xfrm>
            <a:off x="294968" y="1199535"/>
            <a:ext cx="11739716" cy="5466736"/>
          </a:xfrm>
        </p:spPr>
        <p:txBody>
          <a:bodyPr>
            <a:normAutofit lnSpcReduction="10000"/>
          </a:bodyPr>
          <a:lstStyle/>
          <a:p>
            <a:pPr>
              <a:lnSpc>
                <a:spcPct val="150000"/>
              </a:lnSpc>
            </a:pPr>
            <a:r>
              <a:rPr lang="en-US" sz="1900" dirty="0">
                <a:latin typeface="Arial" panose="020B0604020202020204" pitchFamily="34" charset="0"/>
                <a:cs typeface="Arial" panose="020B0604020202020204" pitchFamily="34" charset="0"/>
              </a:rPr>
              <a:t>To design a smart helmet equipped with:</a:t>
            </a:r>
          </a:p>
          <a:p>
            <a:pPr lvl="1">
              <a:lnSpc>
                <a:spcPct val="150000"/>
              </a:lnSpc>
            </a:pPr>
            <a:r>
              <a:rPr lang="en-US" sz="1900" dirty="0">
                <a:latin typeface="Arial" panose="020B0604020202020204" pitchFamily="34" charset="0"/>
                <a:cs typeface="Arial" panose="020B0604020202020204" pitchFamily="34" charset="0"/>
              </a:rPr>
              <a:t>DHT11 sensor for temperature and humidity monitoring.</a:t>
            </a:r>
          </a:p>
          <a:p>
            <a:pPr lvl="1">
              <a:lnSpc>
                <a:spcPct val="150000"/>
              </a:lnSpc>
            </a:pPr>
            <a:r>
              <a:rPr lang="en-US" sz="1800" dirty="0">
                <a:latin typeface="Arial" panose="020B0604020202020204" pitchFamily="34" charset="0"/>
                <a:cs typeface="Arial" panose="020B0604020202020204" pitchFamily="34" charset="0"/>
              </a:rPr>
              <a:t>Gas</a:t>
            </a:r>
            <a:r>
              <a:rPr lang="en-US" sz="1900" dirty="0">
                <a:latin typeface="Arial" panose="020B0604020202020204" pitchFamily="34" charset="0"/>
                <a:cs typeface="Arial" panose="020B0604020202020204" pitchFamily="34" charset="0"/>
              </a:rPr>
              <a:t> sensor for detecting hazardous gases.</a:t>
            </a:r>
          </a:p>
          <a:p>
            <a:pPr lvl="1">
              <a:lnSpc>
                <a:spcPct val="150000"/>
              </a:lnSpc>
            </a:pPr>
            <a:r>
              <a:rPr lang="en-US" sz="1900" dirty="0">
                <a:latin typeface="Arial" panose="020B0604020202020204" pitchFamily="34" charset="0"/>
                <a:cs typeface="Arial" panose="020B0604020202020204" pitchFamily="34" charset="0"/>
              </a:rPr>
              <a:t>IMU angle sensor for fall detection and abnormal movement detection.</a:t>
            </a:r>
          </a:p>
          <a:p>
            <a:pPr>
              <a:lnSpc>
                <a:spcPct val="150000"/>
              </a:lnSpc>
            </a:pPr>
            <a:r>
              <a:rPr lang="en-US" sz="1900" dirty="0">
                <a:latin typeface="Arial" panose="020B0604020202020204" pitchFamily="34" charset="0"/>
                <a:cs typeface="Arial" panose="020B0604020202020204" pitchFamily="34" charset="0"/>
              </a:rPr>
              <a:t>To design a smart jacket equipped with:</a:t>
            </a:r>
          </a:p>
          <a:p>
            <a:pPr lvl="1">
              <a:lnSpc>
                <a:spcPct val="150000"/>
              </a:lnSpc>
            </a:pPr>
            <a:r>
              <a:rPr lang="en-US" sz="1900" dirty="0">
                <a:latin typeface="Arial" panose="020B0604020202020204" pitchFamily="34" charset="0"/>
                <a:cs typeface="Arial" panose="020B0604020202020204" pitchFamily="34" charset="0"/>
              </a:rPr>
              <a:t>SpO₂ sensor for monitoring blood oxygen levels.</a:t>
            </a:r>
          </a:p>
          <a:p>
            <a:pPr lvl="1">
              <a:lnSpc>
                <a:spcPct val="150000"/>
              </a:lnSpc>
            </a:pPr>
            <a:r>
              <a:rPr lang="en-US" sz="1900" dirty="0">
                <a:latin typeface="Arial" panose="020B0604020202020204" pitchFamily="34" charset="0"/>
                <a:cs typeface="Arial" panose="020B0604020202020204" pitchFamily="34" charset="0"/>
              </a:rPr>
              <a:t>Body temperature sensor.</a:t>
            </a:r>
          </a:p>
          <a:p>
            <a:pPr lvl="1">
              <a:lnSpc>
                <a:spcPct val="150000"/>
              </a:lnSpc>
            </a:pPr>
            <a:r>
              <a:rPr lang="en-US" sz="1900" dirty="0">
                <a:latin typeface="Arial" panose="020B0604020202020204" pitchFamily="34" charset="0"/>
                <a:cs typeface="Arial" panose="020B0604020202020204" pitchFamily="34" charset="0"/>
              </a:rPr>
              <a:t>Pressure sensor for underground atmospheric monitoring.</a:t>
            </a:r>
          </a:p>
          <a:p>
            <a:pPr>
              <a:lnSpc>
                <a:spcPct val="150000"/>
              </a:lnSpc>
            </a:pPr>
            <a:r>
              <a:rPr lang="en-US" sz="1900" dirty="0">
                <a:latin typeface="Arial" panose="020B0604020202020204" pitchFamily="34" charset="0"/>
                <a:cs typeface="Arial" panose="020B0604020202020204" pitchFamily="34" charset="0"/>
              </a:rPr>
              <a:t>To implement IoT-based real-time data transmission to a remote monitoring system.</a:t>
            </a:r>
          </a:p>
          <a:p>
            <a:pPr>
              <a:lnSpc>
                <a:spcPct val="150000"/>
              </a:lnSpc>
            </a:pPr>
            <a:r>
              <a:rPr lang="en-US" sz="1900" dirty="0">
                <a:latin typeface="Arial" panose="020B0604020202020204" pitchFamily="34" charset="0"/>
                <a:cs typeface="Arial" panose="020B0604020202020204" pitchFamily="34" charset="0"/>
              </a:rPr>
              <a:t>To generate automatic alerts during abnormal environmental or health conditions.</a:t>
            </a:r>
          </a:p>
          <a:p>
            <a:pPr>
              <a:lnSpc>
                <a:spcPct val="150000"/>
              </a:lnSpc>
            </a:pPr>
            <a:r>
              <a:rPr lang="en-US" sz="1900" dirty="0">
                <a:latin typeface="Arial" panose="020B0604020202020204" pitchFamily="34" charset="0"/>
                <a:cs typeface="Arial" panose="020B0604020202020204" pitchFamily="34" charset="0"/>
              </a:rPr>
              <a:t>To improve overall safety and emergency response time in coal mining environments.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56760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2DF144-BCA1-93D5-D1BB-D32D36A977DE}"/>
              </a:ext>
            </a:extLst>
          </p:cNvPr>
          <p:cNvSpPr txBox="1"/>
          <p:nvPr/>
        </p:nvSpPr>
        <p:spPr>
          <a:xfrm>
            <a:off x="614597" y="451221"/>
            <a:ext cx="6606913" cy="523220"/>
          </a:xfrm>
          <a:prstGeom prst="rect">
            <a:avLst/>
          </a:prstGeom>
          <a:noFill/>
        </p:spPr>
        <p:txBody>
          <a:bodyPr wrap="square">
            <a:spAutoFit/>
          </a:bodyPr>
          <a:lstStyle/>
          <a:p>
            <a:r>
              <a:rPr lang="en-US" sz="2800" b="1" dirty="0">
                <a:latin typeface="Arial" panose="020B0604020202020204" pitchFamily="34" charset="0"/>
                <a:cs typeface="Arial" panose="020B0604020202020204" pitchFamily="34" charset="0"/>
              </a:rPr>
              <a:t>METHODOLOGY :</a:t>
            </a:r>
            <a:endParaRPr lang="en-IN" sz="2800" dirty="0"/>
          </a:p>
        </p:txBody>
      </p:sp>
      <p:sp>
        <p:nvSpPr>
          <p:cNvPr id="9" name="TextBox 8">
            <a:extLst>
              <a:ext uri="{FF2B5EF4-FFF2-40B4-BE49-F238E27FC236}">
                <a16:creationId xmlns:a16="http://schemas.microsoft.com/office/drawing/2014/main" id="{A3F9700D-6112-5134-107D-E86C5DADC925}"/>
              </a:ext>
            </a:extLst>
          </p:cNvPr>
          <p:cNvSpPr txBox="1"/>
          <p:nvPr/>
        </p:nvSpPr>
        <p:spPr>
          <a:xfrm>
            <a:off x="614598" y="1305341"/>
            <a:ext cx="10962805" cy="4247317"/>
          </a:xfrm>
          <a:prstGeom prst="rect">
            <a:avLst/>
          </a:prstGeom>
          <a:noFill/>
        </p:spPr>
        <p:txBody>
          <a:bodyPr wrap="square">
            <a:spAutoFit/>
          </a:bodyPr>
          <a:lstStyle/>
          <a:p>
            <a:pPr algn="just">
              <a:buNone/>
            </a:pPr>
            <a:r>
              <a:rPr lang="en-US" dirty="0">
                <a:latin typeface="Arial" panose="020B0604020202020204" pitchFamily="34" charset="0"/>
                <a:cs typeface="Arial" panose="020B0604020202020204" pitchFamily="34" charset="0"/>
              </a:rPr>
              <a:t>The proposed methodology for Eco-geological environmental coal mining protection based on wearers’ vital smart jackets begins with the design and integration of a multi-sensor wearable system. The smart jacket and helmet are embedded with environmental sensors (gas, temperature, humidity, and motion/IMU) and physiological sensors (SpO₂, body temperature, and pressure/heart-rate monitoring). These sensors continuously collect real-time data related to both mine conditions and worker health status. The sensed signals are transmitted to a central microcontroller (e.g., ESP32), where data acquisition, filtering, and threshold-based analysis are performed. Predefined safety limits based on mining regulations and medical standards are programmed into the controller to detect hazardous environmental exposure, abnormal vital signs, or fall incidents. When sensor readings exceed safe limits, the system classifies the condition as critical and triggers immediate local alerts. the second stage, the processed data is transmitted through a wireless communication module (Wi-Fi/GSM/LoRa) to a cloud-based monitoring platform or control room dashboard. The cloud system stores historical data, enables real-time visualization, and supports predictive analytics for identifying patterns such as gradual gas accumulation or worker fatigue trends. Supervisors can remotely monitor multiple workers simultaneously and initiate emergency responses when necessary. </a:t>
            </a:r>
          </a:p>
        </p:txBody>
      </p:sp>
    </p:spTree>
    <p:extLst>
      <p:ext uri="{BB962C8B-B14F-4D97-AF65-F5344CB8AC3E}">
        <p14:creationId xmlns:p14="http://schemas.microsoft.com/office/powerpoint/2010/main" val="717477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9" name="Google Shape;169;p22"/>
          <p:cNvSpPr txBox="1"/>
          <p:nvPr/>
        </p:nvSpPr>
        <p:spPr>
          <a:xfrm>
            <a:off x="575533" y="160637"/>
            <a:ext cx="11040934" cy="691447"/>
          </a:xfrm>
          <a:prstGeom prst="rect">
            <a:avLst/>
          </a:prstGeom>
          <a:solidFill>
            <a:srgbClr val="9CC2E5"/>
          </a:solid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chemeClr val="dk1"/>
              </a:buClr>
              <a:buSzPts val="3600"/>
              <a:buFont typeface="Times New Roman" panose="02020603050405020304"/>
              <a:buNone/>
            </a:pPr>
            <a:r>
              <a:rPr lang="en-US" sz="36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rPr>
              <a:t>LITERATURE REVIEWS</a:t>
            </a:r>
            <a:endParaRPr sz="3600" b="1" i="0" u="none" strike="noStrike" cap="none"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graphicFrame>
        <p:nvGraphicFramePr>
          <p:cNvPr id="5" name="Table 4">
            <a:extLst>
              <a:ext uri="{FF2B5EF4-FFF2-40B4-BE49-F238E27FC236}">
                <a16:creationId xmlns:a16="http://schemas.microsoft.com/office/drawing/2014/main" id="{15F3DC49-C2E1-E9D7-4116-FD3557BCDA88}"/>
              </a:ext>
            </a:extLst>
          </p:cNvPr>
          <p:cNvGraphicFramePr>
            <a:graphicFrameLocks noGrp="1"/>
          </p:cNvGraphicFramePr>
          <p:nvPr>
            <p:extLst>
              <p:ext uri="{D42A27DB-BD31-4B8C-83A1-F6EECF244321}">
                <p14:modId xmlns:p14="http://schemas.microsoft.com/office/powerpoint/2010/main" val="209734785"/>
              </p:ext>
            </p:extLst>
          </p:nvPr>
        </p:nvGraphicFramePr>
        <p:xfrm>
          <a:off x="513097" y="803879"/>
          <a:ext cx="11165805" cy="6054121"/>
        </p:xfrm>
        <a:graphic>
          <a:graphicData uri="http://schemas.openxmlformats.org/drawingml/2006/table">
            <a:tbl>
              <a:tblPr firstRow="1" bandRow="1">
                <a:tableStyleId>{5C22544A-7EE6-4342-B048-85BDC9FD1C3A}</a:tableStyleId>
              </a:tblPr>
              <a:tblGrid>
                <a:gridCol w="972988">
                  <a:extLst>
                    <a:ext uri="{9D8B030D-6E8A-4147-A177-3AD203B41FA5}">
                      <a16:colId xmlns:a16="http://schemas.microsoft.com/office/drawing/2014/main" val="3592592276"/>
                    </a:ext>
                  </a:extLst>
                </a:gridCol>
                <a:gridCol w="2475818">
                  <a:extLst>
                    <a:ext uri="{9D8B030D-6E8A-4147-A177-3AD203B41FA5}">
                      <a16:colId xmlns:a16="http://schemas.microsoft.com/office/drawing/2014/main" val="2976842971"/>
                    </a:ext>
                  </a:extLst>
                </a:gridCol>
                <a:gridCol w="2736969">
                  <a:extLst>
                    <a:ext uri="{9D8B030D-6E8A-4147-A177-3AD203B41FA5}">
                      <a16:colId xmlns:a16="http://schemas.microsoft.com/office/drawing/2014/main" val="23205101"/>
                    </a:ext>
                  </a:extLst>
                </a:gridCol>
                <a:gridCol w="1713726">
                  <a:extLst>
                    <a:ext uri="{9D8B030D-6E8A-4147-A177-3AD203B41FA5}">
                      <a16:colId xmlns:a16="http://schemas.microsoft.com/office/drawing/2014/main" val="3381410889"/>
                    </a:ext>
                  </a:extLst>
                </a:gridCol>
                <a:gridCol w="3266304">
                  <a:extLst>
                    <a:ext uri="{9D8B030D-6E8A-4147-A177-3AD203B41FA5}">
                      <a16:colId xmlns:a16="http://schemas.microsoft.com/office/drawing/2014/main" val="1260502771"/>
                    </a:ext>
                  </a:extLst>
                </a:gridCol>
              </a:tblGrid>
              <a:tr h="565038">
                <a:tc>
                  <a:txBody>
                    <a:bodyPr/>
                    <a:lstStyle/>
                    <a:p>
                      <a:r>
                        <a:rPr lang="en-GB" sz="1600" dirty="0">
                          <a:latin typeface="Times New Roman" panose="02020603050405020304" pitchFamily="18" charset="0"/>
                          <a:cs typeface="Times New Roman" panose="02020603050405020304" pitchFamily="18" charset="0"/>
                        </a:rPr>
                        <a:t>SL.NO.</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GB" sz="1600" dirty="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GB" sz="1600" dirty="0">
                          <a:latin typeface="Times New Roman" panose="02020603050405020304" pitchFamily="18" charset="0"/>
                          <a:cs typeface="Times New Roman" panose="02020603050405020304" pitchFamily="18" charset="0"/>
                        </a:rPr>
                        <a:t>AUTHORS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         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               MAJOR FINDING</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7349931"/>
                  </a:ext>
                </a:extLst>
              </a:tr>
              <a:tr h="1060132">
                <a:tc>
                  <a:txBody>
                    <a:bodyPr/>
                    <a:lstStyle/>
                    <a:p>
                      <a:r>
                        <a:rPr lang="en-GB" sz="1600" dirty="0">
                          <a:latin typeface="Times New Roman" panose="02020603050405020304" pitchFamily="18" charset="0"/>
                          <a:cs typeface="Times New Roman" panose="02020603050405020304" pitchFamily="18" charset="0"/>
                        </a:rPr>
                        <a:t>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1" i="0" kern="1200" dirty="0">
                          <a:solidFill>
                            <a:schemeClr val="dk1"/>
                          </a:solidFill>
                          <a:effectLst/>
                          <a:latin typeface="Times New Roman" panose="02020603050405020304" pitchFamily="18" charset="0"/>
                          <a:ea typeface="+mn-ea"/>
                          <a:cs typeface="Times New Roman" panose="02020603050405020304" pitchFamily="18" charset="0"/>
                        </a:rPr>
                        <a:t>Multiple Sensor Network (MSN) for Coal Mine Safety Monitoring with LoRa Module</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600" u="none" strike="noStrike" kern="1200" dirty="0" err="1">
                          <a:solidFill>
                            <a:schemeClr val="dk1"/>
                          </a:solidFill>
                          <a:effectLst/>
                          <a:latin typeface="Times New Roman" panose="02020603050405020304" pitchFamily="18" charset="0"/>
                          <a:ea typeface="+mn-ea"/>
                          <a:cs typeface="Times New Roman" panose="02020603050405020304" pitchFamily="18" charset="0"/>
                        </a:rPr>
                        <a:t>Soumyadeep</a:t>
                      </a:r>
                      <a:r>
                        <a:rPr lang="en-US" sz="1600" u="none" strike="noStrike" kern="1200" dirty="0">
                          <a:solidFill>
                            <a:schemeClr val="dk1"/>
                          </a:solidFill>
                          <a:effectLst/>
                          <a:latin typeface="Times New Roman" panose="02020603050405020304" pitchFamily="18" charset="0"/>
                          <a:ea typeface="+mn-ea"/>
                          <a:cs typeface="Times New Roman" panose="02020603050405020304" pitchFamily="18" charset="0"/>
                        </a:rPr>
                        <a:t> Ghosh</a:t>
                      </a:r>
                      <a:endParaRPr lang="en-US" sz="1600" dirty="0">
                        <a:effectLst/>
                        <a:latin typeface="Times New Roman" panose="02020603050405020304" pitchFamily="18" charset="0"/>
                        <a:cs typeface="Times New Roman" panose="02020603050405020304" pitchFamily="18" charset="0"/>
                      </a:endParaRPr>
                    </a:p>
                    <a:p>
                      <a:r>
                        <a:rPr lang="en-US" sz="1600" u="none" strike="noStrike" kern="1200" dirty="0">
                          <a:solidFill>
                            <a:schemeClr val="dk1"/>
                          </a:solidFill>
                          <a:effectLst/>
                          <a:latin typeface="Times New Roman" panose="02020603050405020304" pitchFamily="18" charset="0"/>
                          <a:ea typeface="+mn-ea"/>
                          <a:cs typeface="Times New Roman" panose="02020603050405020304" pitchFamily="18" charset="0"/>
                        </a:rPr>
                        <a:t>Ayandip Saha</a:t>
                      </a:r>
                      <a:endParaRPr lang="en-US" sz="1600" dirty="0">
                        <a:effectLst/>
                        <a:latin typeface="Times New Roman" panose="02020603050405020304" pitchFamily="18" charset="0"/>
                        <a:cs typeface="Times New Roman" panose="02020603050405020304" pitchFamily="18" charset="0"/>
                      </a:endParaRPr>
                    </a:p>
                    <a:p>
                      <a:r>
                        <a:rPr lang="en-US" sz="1600" u="none" strike="noStrike" kern="1200" dirty="0">
                          <a:solidFill>
                            <a:schemeClr val="dk1"/>
                          </a:solidFill>
                          <a:effectLst/>
                          <a:latin typeface="Times New Roman" panose="02020603050405020304" pitchFamily="18" charset="0"/>
                          <a:ea typeface="+mn-ea"/>
                          <a:cs typeface="Times New Roman" panose="02020603050405020304" pitchFamily="18" charset="0"/>
                        </a:rPr>
                        <a:t>Nupur </a:t>
                      </a:r>
                      <a:r>
                        <a:rPr lang="en-US" sz="1600" u="none" strike="noStrike" kern="1200" dirty="0" err="1">
                          <a:solidFill>
                            <a:schemeClr val="dk1"/>
                          </a:solidFill>
                          <a:effectLst/>
                          <a:latin typeface="Times New Roman" panose="02020603050405020304" pitchFamily="18" charset="0"/>
                          <a:ea typeface="+mn-ea"/>
                          <a:cs typeface="Times New Roman" panose="02020603050405020304" pitchFamily="18" charset="0"/>
                        </a:rPr>
                        <a:t>Chhaule</a:t>
                      </a:r>
                      <a:endParaRPr lang="en-US" sz="1600" dirty="0">
                        <a:effectLst/>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temperature, humidity, gas concentration, vibration of the mine, and other environmental factors can all be recorded by the multiple sensors in one node.</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5007202"/>
                  </a:ext>
                </a:extLst>
              </a:tr>
              <a:tr h="1255419">
                <a:tc>
                  <a:txBody>
                    <a:bodyPr/>
                    <a:lstStyle/>
                    <a:p>
                      <a:r>
                        <a:rPr lang="en-GB" sz="1600" dirty="0">
                          <a:latin typeface="Times New Roman" panose="02020603050405020304" pitchFamily="18" charset="0"/>
                          <a:cs typeface="Times New Roman" panose="02020603050405020304" pitchFamily="18" charset="0"/>
                        </a:rPr>
                        <a:t>2.</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Times New Roman" panose="02020603050405020304" pitchFamily="18" charset="0"/>
                          <a:ea typeface="+mn-ea"/>
                          <a:cs typeface="Times New Roman" panose="02020603050405020304" pitchFamily="18" charset="0"/>
                        </a:rPr>
                        <a:t>On Underground Coal Mine Environment Monitoring with LoRa Range Extension</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Saikat Chandra Bakshi</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p>
                      <a:r>
                        <a:rPr lang="en-IN" sz="16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Ankita Pramanik</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p>
                      <a:r>
                        <a:rPr lang="en-IN" sz="16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Ramakrishnan Lakshmanan</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p>
                      <a:pPr marL="400050" indent="-400050">
                        <a:buFont typeface="+mj-lt"/>
                        <a:buAutoNum type="romanLcPeriod"/>
                      </a:pP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work also presents a technique to extend the range of LoRa nodes so as to increase the coverage of LoRa network</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3685360"/>
                  </a:ext>
                </a:extLst>
              </a:tr>
              <a:tr h="1313323">
                <a:tc>
                  <a:txBody>
                    <a:bodyPr/>
                    <a:lstStyle/>
                    <a:p>
                      <a:r>
                        <a:rPr lang="en-GB" sz="1600" dirty="0">
                          <a:latin typeface="Times New Roman" panose="02020603050405020304" pitchFamily="18" charset="0"/>
                          <a:cs typeface="Times New Roman" panose="02020603050405020304" pitchFamily="18" charset="0"/>
                        </a:rPr>
                        <a:t>3</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Times New Roman" panose="02020603050405020304" pitchFamily="18" charset="0"/>
                          <a:ea typeface="+mn-ea"/>
                          <a:cs typeface="Times New Roman" panose="02020603050405020304" pitchFamily="18" charset="0"/>
                        </a:rPr>
                        <a:t>Design of IOT based coal mine safety system using LoRa</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Aruna Manjusha</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p>
                      <a:r>
                        <a:rPr lang="en-IN" sz="16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Sudeep Sharma</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p>
                      <a:pPr marL="0" indent="0">
                        <a:buFont typeface="+mj-lt"/>
                        <a:buNone/>
                      </a:pP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An alert notification is sent to the authorized person's mailbox if a fire breaks out in a coal mine. Temperature and humidity levels are regularly checked and displayed</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8588292"/>
                  </a:ext>
                </a:extLst>
              </a:tr>
              <a:tr h="1255419">
                <a:tc>
                  <a:txBody>
                    <a:bodyPr/>
                    <a:lstStyle/>
                    <a:p>
                      <a:r>
                        <a:rPr lang="en-GB" sz="1600" dirty="0">
                          <a:latin typeface="Times New Roman" panose="02020603050405020304" pitchFamily="18" charset="0"/>
                          <a:cs typeface="Times New Roman" panose="02020603050405020304" pitchFamily="18" charset="0"/>
                        </a:rPr>
                        <a:t>4.</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Times New Roman" panose="02020603050405020304" pitchFamily="18" charset="0"/>
                          <a:ea typeface="+mn-ea"/>
                          <a:cs typeface="Times New Roman" panose="02020603050405020304" pitchFamily="18" charset="0"/>
                        </a:rPr>
                        <a:t>Operation Technology of Unmanned Mining Robot for Coal Mine Based on Intelligent Control Technology</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Chunpeng</a:t>
                      </a:r>
                      <a:r>
                        <a:rPr lang="en-IN" sz="16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Li</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p>
                      <a:r>
                        <a:rPr lang="en-IN" sz="1600" b="0" i="0" u="none" strike="noStrike" kern="1200" dirty="0" err="1">
                          <a:solidFill>
                            <a:schemeClr val="dk1"/>
                          </a:solidFill>
                          <a:effectLst/>
                          <a:latin typeface="Times New Roman" panose="02020603050405020304" pitchFamily="18" charset="0"/>
                          <a:ea typeface="+mn-ea"/>
                          <a:cs typeface="Times New Roman" panose="02020603050405020304" pitchFamily="18" charset="0"/>
                        </a:rPr>
                        <a:t>Xingfu</a:t>
                      </a:r>
                      <a:r>
                        <a:rPr lang="en-IN" sz="1600" b="0" i="0" u="none" strike="noStrike" kern="1200" dirty="0">
                          <a:solidFill>
                            <a:schemeClr val="dk1"/>
                          </a:solidFill>
                          <a:effectLst/>
                          <a:latin typeface="Times New Roman" panose="02020603050405020304" pitchFamily="18" charset="0"/>
                          <a:ea typeface="+mn-ea"/>
                          <a:cs typeface="Times New Roman" panose="02020603050405020304" pitchFamily="18" charset="0"/>
                        </a:rPr>
                        <a:t> Zhang</a:t>
                      </a:r>
                      <a:endParaRPr lang="en-IN" sz="1600" b="0" i="0" kern="1200" dirty="0">
                        <a:solidFill>
                          <a:schemeClr val="dk1"/>
                        </a:solidFill>
                        <a:effectLst/>
                        <a:latin typeface="Times New Roman" panose="02020603050405020304" pitchFamily="18" charset="0"/>
                        <a:ea typeface="+mn-ea"/>
                        <a:cs typeface="Times New Roman" panose="02020603050405020304" pitchFamily="18" charset="0"/>
                      </a:endParaRPr>
                    </a:p>
                    <a:p>
                      <a:pPr marL="400050" indent="-4000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2020</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purpose of this study is to discuss the application of intelligent control technology in coal mine operation, and prove its effect and potential through experiments.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9974375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2130BD31-31B0-3A24-D90B-0C186E7C8DF6}"/>
              </a:ext>
            </a:extLst>
          </p:cNvPr>
          <p:cNvGraphicFramePr>
            <a:graphicFrameLocks noGrp="1"/>
          </p:cNvGraphicFramePr>
          <p:nvPr/>
        </p:nvGraphicFramePr>
        <p:xfrm>
          <a:off x="599768" y="266591"/>
          <a:ext cx="10959328" cy="6520043"/>
        </p:xfrm>
        <a:graphic>
          <a:graphicData uri="http://schemas.openxmlformats.org/drawingml/2006/table">
            <a:tbl>
              <a:tblPr firstRow="1" bandRow="1">
                <a:tableStyleId>{5C22544A-7EE6-4342-B048-85BDC9FD1C3A}</a:tableStyleId>
              </a:tblPr>
              <a:tblGrid>
                <a:gridCol w="954996">
                  <a:extLst>
                    <a:ext uri="{9D8B030D-6E8A-4147-A177-3AD203B41FA5}">
                      <a16:colId xmlns:a16="http://schemas.microsoft.com/office/drawing/2014/main" val="3592592276"/>
                    </a:ext>
                  </a:extLst>
                </a:gridCol>
                <a:gridCol w="2430036">
                  <a:extLst>
                    <a:ext uri="{9D8B030D-6E8A-4147-A177-3AD203B41FA5}">
                      <a16:colId xmlns:a16="http://schemas.microsoft.com/office/drawing/2014/main" val="2976842971"/>
                    </a:ext>
                  </a:extLst>
                </a:gridCol>
                <a:gridCol w="2334574">
                  <a:extLst>
                    <a:ext uri="{9D8B030D-6E8A-4147-A177-3AD203B41FA5}">
                      <a16:colId xmlns:a16="http://schemas.microsoft.com/office/drawing/2014/main" val="23205101"/>
                    </a:ext>
                  </a:extLst>
                </a:gridCol>
                <a:gridCol w="2033819">
                  <a:extLst>
                    <a:ext uri="{9D8B030D-6E8A-4147-A177-3AD203B41FA5}">
                      <a16:colId xmlns:a16="http://schemas.microsoft.com/office/drawing/2014/main" val="3381410889"/>
                    </a:ext>
                  </a:extLst>
                </a:gridCol>
                <a:gridCol w="3205903">
                  <a:extLst>
                    <a:ext uri="{9D8B030D-6E8A-4147-A177-3AD203B41FA5}">
                      <a16:colId xmlns:a16="http://schemas.microsoft.com/office/drawing/2014/main" val="1260502771"/>
                    </a:ext>
                  </a:extLst>
                </a:gridCol>
              </a:tblGrid>
              <a:tr h="545963">
                <a:tc>
                  <a:txBody>
                    <a:bodyPr/>
                    <a:lstStyle/>
                    <a:p>
                      <a:r>
                        <a:rPr lang="en-GB" sz="1600" dirty="0">
                          <a:latin typeface="Times New Roman" panose="02020603050405020304" pitchFamily="18" charset="0"/>
                          <a:cs typeface="Times New Roman" panose="02020603050405020304" pitchFamily="18" charset="0"/>
                        </a:rPr>
                        <a:t>SL.NO.</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GB" sz="1600" dirty="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GB" sz="1600" dirty="0">
                          <a:latin typeface="Times New Roman" panose="02020603050405020304" pitchFamily="18" charset="0"/>
                          <a:cs typeface="Times New Roman" panose="02020603050405020304" pitchFamily="18" charset="0"/>
                        </a:rPr>
                        <a:t>AUTHORS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            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               MAJOR FINDING</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7349931"/>
                  </a:ext>
                </a:extLst>
              </a:tr>
              <a:tr h="1159123">
                <a:tc>
                  <a:txBody>
                    <a:bodyPr/>
                    <a:lstStyle/>
                    <a:p>
                      <a:r>
                        <a:rPr lang="en-GB" sz="1600" dirty="0">
                          <a:latin typeface="Times New Roman" panose="02020603050405020304" pitchFamily="18" charset="0"/>
                          <a:cs typeface="Times New Roman" panose="02020603050405020304" pitchFamily="18" charset="0"/>
                        </a:rPr>
                        <a:t>5.</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The Design and Research of Coal Mine Safety Dynamic Evaluation System</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US" sz="1600" b="0" i="0" u="none" strike="noStrike" kern="1200" dirty="0">
                          <a:solidFill>
                            <a:schemeClr val="dk1"/>
                          </a:solidFill>
                          <a:effectLst/>
                          <a:latin typeface="+mn-lt"/>
                          <a:ea typeface="+mn-ea"/>
                          <a:cs typeface="+mn-cs"/>
                        </a:rPr>
                        <a:t>Zhang </a:t>
                      </a:r>
                      <a:r>
                        <a:rPr lang="en-US" sz="1600" b="0" i="0" u="none" strike="noStrike" kern="1200" dirty="0" err="1">
                          <a:solidFill>
                            <a:schemeClr val="dk1"/>
                          </a:solidFill>
                          <a:effectLst/>
                          <a:latin typeface="+mn-lt"/>
                          <a:ea typeface="+mn-ea"/>
                          <a:cs typeface="+mn-cs"/>
                        </a:rPr>
                        <a:t>Jiangshi</a:t>
                      </a:r>
                      <a:endParaRPr lang="en-US" sz="1600" b="0" i="0" kern="1200" dirty="0">
                        <a:solidFill>
                          <a:schemeClr val="dk1"/>
                        </a:solidFill>
                        <a:effectLst/>
                        <a:latin typeface="+mn-lt"/>
                        <a:ea typeface="+mn-ea"/>
                        <a:cs typeface="+mn-cs"/>
                      </a:endParaRPr>
                    </a:p>
                    <a:p>
                      <a:r>
                        <a:rPr lang="en-US" sz="1600" b="0" i="0" u="none" strike="noStrike" kern="1200" dirty="0">
                          <a:solidFill>
                            <a:schemeClr val="dk1"/>
                          </a:solidFill>
                          <a:effectLst/>
                          <a:latin typeface="+mn-lt"/>
                          <a:ea typeface="+mn-ea"/>
                          <a:cs typeface="+mn-cs"/>
                        </a:rPr>
                        <a:t>Fu Gui</a:t>
                      </a:r>
                      <a:endParaRPr lang="en-US" sz="1600" b="0" i="0" kern="1200" dirty="0">
                        <a:solidFill>
                          <a:schemeClr val="dk1"/>
                        </a:solidFill>
                        <a:effectLst/>
                        <a:latin typeface="+mn-lt"/>
                        <a:ea typeface="+mn-ea"/>
                        <a:cs typeface="+mn-cs"/>
                      </a:endParaRPr>
                    </a:p>
                    <a:p>
                      <a:pPr marL="400050" indent="-400050">
                        <a:buFont typeface="+mj-lt"/>
                        <a:buAutoNum type="romanLcPeriod"/>
                      </a:pPr>
                      <a:endParaRPr lang="en-IN" sz="1600" u="none"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mn-lt"/>
                          <a:ea typeface="+mn-ea"/>
                          <a:cs typeface="+mn-cs"/>
                        </a:rPr>
                        <a:t>Through this system, mine-related managers can real-time insight into production of underground safety and security trends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5007202"/>
                  </a:ext>
                </a:extLst>
              </a:tr>
              <a:tr h="1590425">
                <a:tc>
                  <a:txBody>
                    <a:bodyPr/>
                    <a:lstStyle/>
                    <a:p>
                      <a:r>
                        <a:rPr lang="en-GB" sz="1600" dirty="0">
                          <a:latin typeface="Times New Roman" panose="02020603050405020304" pitchFamily="18" charset="0"/>
                          <a:cs typeface="Times New Roman" panose="02020603050405020304" pitchFamily="18" charset="0"/>
                        </a:rPr>
                        <a:t>6.</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Development and Field Application of Ultrasonic Scanner for Coal Mine Gas Extraction Borehole Drilling</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i="0" u="none" strike="noStrike" kern="1200" dirty="0">
                          <a:solidFill>
                            <a:schemeClr val="dk1"/>
                          </a:solidFill>
                          <a:effectLst/>
                          <a:latin typeface="+mn-lt"/>
                          <a:ea typeface="+mn-ea"/>
                          <a:cs typeface="+mn-cs"/>
                        </a:rPr>
                        <a:t>Lili Yan</a:t>
                      </a:r>
                      <a:endParaRPr lang="en-IN" sz="1600" b="0" i="0" kern="1200" dirty="0">
                        <a:solidFill>
                          <a:schemeClr val="dk1"/>
                        </a:solidFill>
                        <a:effectLst/>
                        <a:latin typeface="+mn-lt"/>
                        <a:ea typeface="+mn-ea"/>
                        <a:cs typeface="+mn-cs"/>
                      </a:endParaRPr>
                    </a:p>
                    <a:p>
                      <a:r>
                        <a:rPr lang="en-IN" sz="1600" b="0" i="0" u="none" strike="noStrike" kern="1200" dirty="0" err="1">
                          <a:solidFill>
                            <a:schemeClr val="dk1"/>
                          </a:solidFill>
                          <a:effectLst/>
                          <a:latin typeface="+mn-lt"/>
                          <a:ea typeface="+mn-ea"/>
                          <a:cs typeface="+mn-cs"/>
                        </a:rPr>
                        <a:t>Xingming</a:t>
                      </a:r>
                      <a:r>
                        <a:rPr lang="en-IN" sz="1600" b="0" i="0" u="none" strike="noStrike" kern="1200" dirty="0">
                          <a:solidFill>
                            <a:schemeClr val="dk1"/>
                          </a:solidFill>
                          <a:effectLst/>
                          <a:latin typeface="+mn-lt"/>
                          <a:ea typeface="+mn-ea"/>
                          <a:cs typeface="+mn-cs"/>
                        </a:rPr>
                        <a:t> Wang</a:t>
                      </a:r>
                    </a:p>
                    <a:p>
                      <a:r>
                        <a:rPr lang="en-IN" sz="1600" b="0" i="0" u="none" strike="noStrike" kern="1200" dirty="0">
                          <a:solidFill>
                            <a:schemeClr val="dk1"/>
                          </a:solidFill>
                          <a:effectLst/>
                          <a:latin typeface="+mn-lt"/>
                          <a:ea typeface="+mn-ea"/>
                          <a:cs typeface="+mn-cs"/>
                        </a:rPr>
                        <a:t>Kai Chen</a:t>
                      </a:r>
                      <a:endParaRPr lang="en-IN" sz="1600" b="0" i="0" kern="1200" dirty="0">
                        <a:solidFill>
                          <a:schemeClr val="dk1"/>
                        </a:solidFill>
                        <a:effectLst/>
                        <a:latin typeface="+mn-lt"/>
                        <a:ea typeface="+mn-ea"/>
                        <a:cs typeface="+mn-cs"/>
                      </a:endParaRPr>
                    </a:p>
                    <a:p>
                      <a:pPr marL="400050" indent="-4000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mn-lt"/>
                          <a:ea typeface="+mn-ea"/>
                          <a:cs typeface="+mn-cs"/>
                        </a:rPr>
                        <a:t>The geological conditions of coal mines in China are complex, the coal industry proposes to adopt the method while drilling to measure the inner diameter of the borehole and the lithological distribution of the strata during the drilling process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3685360"/>
                  </a:ext>
                </a:extLst>
              </a:tr>
              <a:tr h="1159123">
                <a:tc>
                  <a:txBody>
                    <a:bodyPr/>
                    <a:lstStyle/>
                    <a:p>
                      <a:r>
                        <a:rPr lang="en-GB" sz="1600" dirty="0">
                          <a:latin typeface="Times New Roman" panose="02020603050405020304" pitchFamily="18" charset="0"/>
                          <a:cs typeface="Times New Roman" panose="02020603050405020304" pitchFamily="18" charset="0"/>
                        </a:rPr>
                        <a:t>7.</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Design and Implementation of Coal Mine Equipment Management System</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i="0" u="none" strike="noStrike" kern="1200" dirty="0">
                          <a:solidFill>
                            <a:schemeClr val="dk1"/>
                          </a:solidFill>
                          <a:effectLst/>
                          <a:latin typeface="+mn-lt"/>
                          <a:ea typeface="+mn-ea"/>
                          <a:cs typeface="+mn-cs"/>
                        </a:rPr>
                        <a:t>Wei Li</a:t>
                      </a:r>
                      <a:endParaRPr lang="en-IN" sz="1600" b="0" i="0" kern="1200" dirty="0">
                        <a:solidFill>
                          <a:schemeClr val="dk1"/>
                        </a:solidFill>
                        <a:effectLst/>
                        <a:latin typeface="+mn-lt"/>
                        <a:ea typeface="+mn-ea"/>
                        <a:cs typeface="+mn-cs"/>
                      </a:endParaRPr>
                    </a:p>
                    <a:p>
                      <a:r>
                        <a:rPr lang="en-IN" sz="1600" b="0" i="0" u="none" strike="noStrike" kern="1200" dirty="0">
                          <a:solidFill>
                            <a:schemeClr val="dk1"/>
                          </a:solidFill>
                          <a:effectLst/>
                          <a:latin typeface="+mn-lt"/>
                          <a:ea typeface="+mn-ea"/>
                          <a:cs typeface="+mn-cs"/>
                        </a:rPr>
                        <a:t>Jin Xu</a:t>
                      </a:r>
                      <a:endParaRPr lang="en-IN" sz="1600" b="0" i="0" kern="1200" dirty="0">
                        <a:solidFill>
                          <a:schemeClr val="dk1"/>
                        </a:solidFill>
                        <a:effectLst/>
                        <a:latin typeface="+mn-lt"/>
                        <a:ea typeface="+mn-ea"/>
                        <a:cs typeface="+mn-cs"/>
                      </a:endParaRPr>
                    </a:p>
                    <a:p>
                      <a:r>
                        <a:rPr lang="en-IN" sz="1600" b="0" i="0" u="none" strike="noStrike" kern="1200" dirty="0" err="1">
                          <a:solidFill>
                            <a:schemeClr val="dk1"/>
                          </a:solidFill>
                          <a:effectLst/>
                          <a:latin typeface="+mn-lt"/>
                          <a:ea typeface="+mn-ea"/>
                          <a:cs typeface="+mn-cs"/>
                        </a:rPr>
                        <a:t>ZhenMing</a:t>
                      </a:r>
                      <a:r>
                        <a:rPr lang="en-IN" sz="1600" b="0" i="0" u="none" strike="noStrike" kern="1200" dirty="0">
                          <a:solidFill>
                            <a:schemeClr val="dk1"/>
                          </a:solidFill>
                          <a:effectLst/>
                          <a:latin typeface="+mn-lt"/>
                          <a:ea typeface="+mn-ea"/>
                          <a:cs typeface="+mn-cs"/>
                        </a:rPr>
                        <a:t> Zhang</a:t>
                      </a:r>
                      <a:endParaRPr lang="en-IN" sz="1600" b="0" i="0" kern="1200" dirty="0">
                        <a:solidFill>
                          <a:schemeClr val="dk1"/>
                        </a:solidFill>
                        <a:effectLst/>
                        <a:latin typeface="+mn-lt"/>
                        <a:ea typeface="+mn-ea"/>
                        <a:cs typeface="+mn-cs"/>
                      </a:endParaRPr>
                    </a:p>
                    <a:p>
                      <a:pPr marL="400050" indent="-400050">
                        <a:buFont typeface="+mj-lt"/>
                        <a:buAutoNum type="romanLcPeriod"/>
                      </a:pPr>
                      <a:endParaRPr lang="en-IN" sz="1600" b="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mn-lt"/>
                          <a:ea typeface="+mn-ea"/>
                          <a:cs typeface="+mn-cs"/>
                        </a:rPr>
                        <a:t>This paper analyzes the main requirements of coal mine electromechanical equipment management, designs a business process for cross-departmental</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8588292"/>
                  </a:ext>
                </a:extLst>
              </a:tr>
              <a:tr h="1374774">
                <a:tc>
                  <a:txBody>
                    <a:bodyPr/>
                    <a:lstStyle/>
                    <a:p>
                      <a:r>
                        <a:rPr lang="en-GB" sz="1600" dirty="0">
                          <a:latin typeface="Times New Roman" panose="02020603050405020304" pitchFamily="18" charset="0"/>
                          <a:cs typeface="Times New Roman" panose="02020603050405020304" pitchFamily="18" charset="0"/>
                        </a:rPr>
                        <a:t>8.</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Optimization scheduling of integrated coal mine energy systems based on multi-objective particle swarm optimization</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i="0" u="none" strike="noStrike" kern="1200" dirty="0">
                          <a:solidFill>
                            <a:schemeClr val="dk1"/>
                          </a:solidFill>
                          <a:effectLst/>
                          <a:latin typeface="+mn-lt"/>
                          <a:ea typeface="+mn-ea"/>
                          <a:cs typeface="+mn-cs"/>
                        </a:rPr>
                        <a:t>Fei Ge</a:t>
                      </a:r>
                      <a:endParaRPr lang="en-IN" sz="1600" b="0" i="0" kern="1200" dirty="0">
                        <a:solidFill>
                          <a:schemeClr val="dk1"/>
                        </a:solidFill>
                        <a:effectLst/>
                        <a:latin typeface="+mn-lt"/>
                        <a:ea typeface="+mn-ea"/>
                        <a:cs typeface="+mn-cs"/>
                      </a:endParaRPr>
                    </a:p>
                    <a:p>
                      <a:r>
                        <a:rPr lang="en-IN" sz="1600" b="0" i="0" u="none" strike="noStrike" kern="1200" dirty="0">
                          <a:solidFill>
                            <a:schemeClr val="dk1"/>
                          </a:solidFill>
                          <a:effectLst/>
                          <a:latin typeface="+mn-lt"/>
                          <a:ea typeface="+mn-ea"/>
                          <a:cs typeface="+mn-cs"/>
                        </a:rPr>
                        <a:t>Xuhui Bu</a:t>
                      </a:r>
                      <a:endParaRPr lang="en-IN" sz="1600" b="0" i="0" kern="1200" dirty="0">
                        <a:solidFill>
                          <a:schemeClr val="dk1"/>
                        </a:solidFill>
                        <a:effectLst/>
                        <a:latin typeface="+mn-lt"/>
                        <a:ea typeface="+mn-ea"/>
                        <a:cs typeface="+mn-cs"/>
                      </a:endParaRPr>
                    </a:p>
                    <a:p>
                      <a:r>
                        <a:rPr lang="en-IN" sz="1600" b="0" i="0" u="none" strike="noStrike" kern="1200" dirty="0">
                          <a:solidFill>
                            <a:schemeClr val="dk1"/>
                          </a:solidFill>
                          <a:effectLst/>
                          <a:latin typeface="+mn-lt"/>
                          <a:ea typeface="+mn-ea"/>
                          <a:cs typeface="+mn-cs"/>
                        </a:rPr>
                        <a:t>Yanling Yin</a:t>
                      </a:r>
                      <a:endParaRPr lang="en-IN" sz="1600" b="0" i="0" kern="1200" dirty="0">
                        <a:solidFill>
                          <a:schemeClr val="dk1"/>
                        </a:solidFill>
                        <a:effectLst/>
                        <a:latin typeface="+mn-lt"/>
                        <a:ea typeface="+mn-ea"/>
                        <a:cs typeface="+mn-cs"/>
                      </a:endParaRPr>
                    </a:p>
                    <a:p>
                      <a:pPr marL="400050" indent="-400050">
                        <a:buFont typeface="+mj-lt"/>
                        <a:buAutoNum type="romanLcPeriod"/>
                      </a:pPr>
                      <a:endParaRPr lang="en-IN" sz="1600" b="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2024</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mn-lt"/>
                          <a:ea typeface="+mn-ea"/>
                          <a:cs typeface="+mn-cs"/>
                        </a:rPr>
                        <a:t>Firstly, it focuses on the establishment of coal mine integrated energy system models and the utilization of associated and renewable energy sources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9974375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DF59E98-8773-D694-1213-2EBD0FC8FE68}"/>
              </a:ext>
            </a:extLst>
          </p:cNvPr>
          <p:cNvGraphicFramePr>
            <a:graphicFrameLocks noGrp="1"/>
          </p:cNvGraphicFramePr>
          <p:nvPr/>
        </p:nvGraphicFramePr>
        <p:xfrm>
          <a:off x="632905" y="258664"/>
          <a:ext cx="10926190" cy="6453818"/>
        </p:xfrm>
        <a:graphic>
          <a:graphicData uri="http://schemas.openxmlformats.org/drawingml/2006/table">
            <a:tbl>
              <a:tblPr firstRow="1" bandRow="1">
                <a:tableStyleId>{5C22544A-7EE6-4342-B048-85BDC9FD1C3A}</a:tableStyleId>
              </a:tblPr>
              <a:tblGrid>
                <a:gridCol w="952108">
                  <a:extLst>
                    <a:ext uri="{9D8B030D-6E8A-4147-A177-3AD203B41FA5}">
                      <a16:colId xmlns:a16="http://schemas.microsoft.com/office/drawing/2014/main" val="3592592276"/>
                    </a:ext>
                  </a:extLst>
                </a:gridCol>
                <a:gridCol w="2422688">
                  <a:extLst>
                    <a:ext uri="{9D8B030D-6E8A-4147-A177-3AD203B41FA5}">
                      <a16:colId xmlns:a16="http://schemas.microsoft.com/office/drawing/2014/main" val="2976842971"/>
                    </a:ext>
                  </a:extLst>
                </a:gridCol>
                <a:gridCol w="2384982">
                  <a:extLst>
                    <a:ext uri="{9D8B030D-6E8A-4147-A177-3AD203B41FA5}">
                      <a16:colId xmlns:a16="http://schemas.microsoft.com/office/drawing/2014/main" val="23205101"/>
                    </a:ext>
                  </a:extLst>
                </a:gridCol>
                <a:gridCol w="1970202">
                  <a:extLst>
                    <a:ext uri="{9D8B030D-6E8A-4147-A177-3AD203B41FA5}">
                      <a16:colId xmlns:a16="http://schemas.microsoft.com/office/drawing/2014/main" val="3381410889"/>
                    </a:ext>
                  </a:extLst>
                </a:gridCol>
                <a:gridCol w="3196210">
                  <a:extLst>
                    <a:ext uri="{9D8B030D-6E8A-4147-A177-3AD203B41FA5}">
                      <a16:colId xmlns:a16="http://schemas.microsoft.com/office/drawing/2014/main" val="1260502771"/>
                    </a:ext>
                  </a:extLst>
                </a:gridCol>
              </a:tblGrid>
              <a:tr h="479738">
                <a:tc>
                  <a:txBody>
                    <a:bodyPr/>
                    <a:lstStyle/>
                    <a:p>
                      <a:r>
                        <a:rPr lang="en-GB" sz="1600" dirty="0">
                          <a:latin typeface="Times New Roman" panose="02020603050405020304" pitchFamily="18" charset="0"/>
                          <a:cs typeface="Times New Roman" panose="02020603050405020304" pitchFamily="18" charset="0"/>
                        </a:rPr>
                        <a:t>SL.NO.</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GB" sz="1600" dirty="0">
                          <a:latin typeface="Times New Roman" panose="02020603050405020304" pitchFamily="18" charset="0"/>
                          <a:cs typeface="Times New Roman" panose="02020603050405020304" pitchFamily="18" charset="0"/>
                        </a:rPr>
                        <a:t>TITLE</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GB" sz="1600" dirty="0">
                          <a:latin typeface="Times New Roman" panose="02020603050405020304" pitchFamily="18" charset="0"/>
                          <a:cs typeface="Times New Roman" panose="02020603050405020304" pitchFamily="18" charset="0"/>
                        </a:rPr>
                        <a:t>AUTHORS</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            YEAR</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               MAJOR FINDING</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47349931"/>
                  </a:ext>
                </a:extLst>
              </a:tr>
              <a:tr h="1136333">
                <a:tc>
                  <a:txBody>
                    <a:bodyPr/>
                    <a:lstStyle/>
                    <a:p>
                      <a:r>
                        <a:rPr lang="en-GB" sz="1600" dirty="0">
                          <a:latin typeface="Times New Roman" panose="02020603050405020304" pitchFamily="18" charset="0"/>
                          <a:cs typeface="Times New Roman" panose="02020603050405020304" pitchFamily="18" charset="0"/>
                        </a:rPr>
                        <a:t>9.</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Design of Information Application System for Coal Mine Safety Supervision and Inspection</a:t>
                      </a:r>
                    </a:p>
                    <a:p>
                      <a:endParaRPr lang="en-IN" sz="1600" b="0" dirty="0">
                        <a:latin typeface="Times New Roman" panose="02020603050405020304" pitchFamily="18" charset="0"/>
                        <a:cs typeface="Times New Roman" panose="02020603050405020304" pitchFamily="18" charset="0"/>
                      </a:endParaRPr>
                    </a:p>
                  </a:txBody>
                  <a:tcPr/>
                </a:tc>
                <a:tc>
                  <a:txBody>
                    <a:bodyPr/>
                    <a:lstStyle/>
                    <a:p>
                      <a:pPr marL="400050" indent="-400050">
                        <a:buFont typeface="Arial" panose="020B0604020202020204" pitchFamily="34" charset="0"/>
                        <a:buChar char="•"/>
                      </a:pPr>
                      <a:r>
                        <a:rPr lang="en-IN" sz="1600" b="0" i="0" u="sng" kern="1200" dirty="0">
                          <a:solidFill>
                            <a:schemeClr val="dk1"/>
                          </a:solidFill>
                          <a:effectLst/>
                          <a:latin typeface="+mn-lt"/>
                          <a:ea typeface="+mn-ea"/>
                          <a:cs typeface="+mn-cs"/>
                        </a:rPr>
                        <a:t>Jialan Sun</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2021</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mn-lt"/>
                          <a:ea typeface="+mn-ea"/>
                          <a:cs typeface="+mn-cs"/>
                        </a:rPr>
                        <a:t>Based on the already constructed remote supervision and inspection system for work safety in the Internet of Things</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225007202"/>
                  </a:ext>
                </a:extLst>
              </a:tr>
              <a:tr h="1136333">
                <a:tc>
                  <a:txBody>
                    <a:bodyPr/>
                    <a:lstStyle/>
                    <a:p>
                      <a:r>
                        <a:rPr lang="en-GB" sz="1600"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Design of Coal Mine Electrical Control System under Soft Start Technology</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i="0" u="sng" kern="1200" dirty="0" err="1">
                          <a:solidFill>
                            <a:schemeClr val="dk1"/>
                          </a:solidFill>
                          <a:effectLst/>
                          <a:latin typeface="+mn-lt"/>
                          <a:ea typeface="+mn-ea"/>
                          <a:cs typeface="+mn-cs"/>
                        </a:rPr>
                        <a:t>Yuanjin</a:t>
                      </a:r>
                      <a:r>
                        <a:rPr lang="en-IN" sz="1600" b="0" i="0" u="sng" kern="1200" dirty="0">
                          <a:solidFill>
                            <a:schemeClr val="dk1"/>
                          </a:solidFill>
                          <a:effectLst/>
                          <a:latin typeface="+mn-lt"/>
                          <a:ea typeface="+mn-ea"/>
                          <a:cs typeface="+mn-cs"/>
                        </a:rPr>
                        <a:t> Kou</a:t>
                      </a:r>
                      <a:endParaRPr lang="en-IN" sz="1600" b="0" i="0" kern="1200" dirty="0">
                        <a:solidFill>
                          <a:schemeClr val="dk1"/>
                        </a:solidFill>
                        <a:effectLst/>
                        <a:latin typeface="+mn-lt"/>
                        <a:ea typeface="+mn-ea"/>
                        <a:cs typeface="+mn-cs"/>
                      </a:endParaRPr>
                    </a:p>
                    <a:p>
                      <a:r>
                        <a:rPr lang="en-IN" sz="1600" b="0" i="0" u="none" strike="noStrike" kern="1200" dirty="0">
                          <a:solidFill>
                            <a:schemeClr val="dk1"/>
                          </a:solidFill>
                          <a:effectLst/>
                          <a:latin typeface="+mn-lt"/>
                          <a:ea typeface="+mn-ea"/>
                          <a:cs typeface="+mn-cs"/>
                        </a:rPr>
                        <a:t>Yilong Liu</a:t>
                      </a:r>
                      <a:endParaRPr lang="en-IN" sz="1600" b="0" i="0" kern="1200" dirty="0">
                        <a:solidFill>
                          <a:schemeClr val="dk1"/>
                        </a:solidFill>
                        <a:effectLst/>
                        <a:latin typeface="+mn-lt"/>
                        <a:ea typeface="+mn-ea"/>
                        <a:cs typeface="+mn-cs"/>
                      </a:endParaRPr>
                    </a:p>
                    <a:p>
                      <a:pPr marL="400050" indent="-400050">
                        <a:buFont typeface="Arial" panose="020B0604020202020204" pitchFamily="34" charset="0"/>
                        <a:buChar char="•"/>
                      </a:pP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mn-lt"/>
                          <a:ea typeface="+mn-ea"/>
                          <a:cs typeface="+mn-cs"/>
                        </a:rPr>
                        <a:t>The application of soft start technology can not only realize the high-speed operation and structure of coal mine system</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3685360"/>
                  </a:ext>
                </a:extLst>
              </a:tr>
              <a:tr h="1136333">
                <a:tc>
                  <a:txBody>
                    <a:bodyPr/>
                    <a:lstStyle/>
                    <a:p>
                      <a:r>
                        <a:rPr lang="en-GB" sz="1600" dirty="0">
                          <a:latin typeface="Times New Roman" panose="02020603050405020304" pitchFamily="18" charset="0"/>
                          <a:cs typeface="Times New Roman" panose="02020603050405020304" pitchFamily="18" charset="0"/>
                        </a:rPr>
                        <a:t>11.</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Business Diversification of Coal Mining Enterprises Based on the Development of Coal Mine Methane Utilization Infrastructure</a:t>
                      </a:r>
                    </a:p>
                    <a:p>
                      <a:endParaRPr lang="en-IN" sz="1600" b="0" dirty="0">
                        <a:latin typeface="Times New Roman" panose="02020603050405020304" pitchFamily="18" charset="0"/>
                        <a:cs typeface="Times New Roman" panose="02020603050405020304" pitchFamily="18" charset="0"/>
                      </a:endParaRPr>
                    </a:p>
                  </a:txBody>
                  <a:tcPr/>
                </a:tc>
                <a:tc>
                  <a:txBody>
                    <a:bodyPr/>
                    <a:lstStyle/>
                    <a:p>
                      <a:r>
                        <a:rPr lang="en-IN" sz="1600" b="0" i="0" u="none" strike="noStrike" kern="1200" dirty="0">
                          <a:solidFill>
                            <a:schemeClr val="dk1"/>
                          </a:solidFill>
                          <a:effectLst/>
                          <a:latin typeface="+mn-lt"/>
                          <a:ea typeface="+mn-ea"/>
                          <a:cs typeface="+mn-cs"/>
                        </a:rPr>
                        <a:t>Fedor S. </a:t>
                      </a:r>
                      <a:r>
                        <a:rPr lang="en-IN" sz="1600" b="0" i="0" u="none" strike="noStrike" kern="1200" dirty="0" err="1">
                          <a:solidFill>
                            <a:schemeClr val="dk1"/>
                          </a:solidFill>
                          <a:effectLst/>
                          <a:latin typeface="+mn-lt"/>
                          <a:ea typeface="+mn-ea"/>
                          <a:cs typeface="+mn-cs"/>
                        </a:rPr>
                        <a:t>Nepsha</a:t>
                      </a:r>
                      <a:endParaRPr lang="en-IN" sz="1600" b="0" i="0" kern="1200" dirty="0">
                        <a:solidFill>
                          <a:schemeClr val="dk1"/>
                        </a:solidFill>
                        <a:effectLst/>
                        <a:latin typeface="+mn-lt"/>
                        <a:ea typeface="+mn-ea"/>
                        <a:cs typeface="+mn-cs"/>
                      </a:endParaRPr>
                    </a:p>
                    <a:p>
                      <a:r>
                        <a:rPr lang="en-IN" sz="1600" b="0" i="0" u="none" strike="noStrike" kern="1200" dirty="0">
                          <a:solidFill>
                            <a:schemeClr val="dk1"/>
                          </a:solidFill>
                          <a:effectLst/>
                          <a:latin typeface="+mn-lt"/>
                          <a:ea typeface="+mn-ea"/>
                          <a:cs typeface="+mn-cs"/>
                        </a:rPr>
                        <a:t>Roman V. Kostomarov</a:t>
                      </a:r>
                      <a:endParaRPr lang="en-IN" sz="1600" b="0" i="0" kern="1200" dirty="0">
                        <a:solidFill>
                          <a:schemeClr val="dk1"/>
                        </a:solidFill>
                        <a:effectLst/>
                        <a:latin typeface="+mn-lt"/>
                        <a:ea typeface="+mn-ea"/>
                        <a:cs typeface="+mn-cs"/>
                      </a:endParaRPr>
                    </a:p>
                    <a:p>
                      <a:pPr marL="0" indent="0">
                        <a:buFont typeface="+mj-lt"/>
                        <a:buNone/>
                      </a:pP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mn-lt"/>
                          <a:ea typeface="+mn-ea"/>
                          <a:cs typeface="+mn-cs"/>
                        </a:rPr>
                        <a:t>Within the framework of the study 3 options of coal mine methane utilization were considered: the use of gas genset for generation of electrical and thermal energy (cogeneration)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78588292"/>
                  </a:ext>
                </a:extLst>
              </a:tr>
              <a:tr h="1136333">
                <a:tc>
                  <a:txBody>
                    <a:bodyPr/>
                    <a:lstStyle/>
                    <a:p>
                      <a:r>
                        <a:rPr lang="en-GB" sz="1600" dirty="0">
                          <a:latin typeface="Times New Roman" panose="02020603050405020304" pitchFamily="18" charset="0"/>
                          <a:cs typeface="Times New Roman" panose="02020603050405020304" pitchFamily="18" charset="0"/>
                        </a:rPr>
                        <a:t>12.</a:t>
                      </a:r>
                      <a:endParaRPr lang="en-IN"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mn-lt"/>
                          <a:ea typeface="+mn-ea"/>
                          <a:cs typeface="+mn-cs"/>
                        </a:rPr>
                        <a:t>Navigation System of Coal Mine Rescue Robot Based on Virtual Reality Technology</a:t>
                      </a:r>
                    </a:p>
                    <a:p>
                      <a:endParaRPr lang="en-IN" sz="1600" b="0" dirty="0">
                        <a:latin typeface="Times New Roman" panose="02020603050405020304" pitchFamily="18" charset="0"/>
                        <a:cs typeface="Times New Roman" panose="02020603050405020304" pitchFamily="18" charset="0"/>
                      </a:endParaRPr>
                    </a:p>
                  </a:txBody>
                  <a:tcPr/>
                </a:tc>
                <a:tc>
                  <a:txBody>
                    <a:bodyPr/>
                    <a:lstStyle/>
                    <a:p>
                      <a:pPr marL="0" indent="0">
                        <a:buFont typeface="+mj-lt"/>
                        <a:buNone/>
                      </a:pPr>
                      <a:r>
                        <a:rPr lang="en-IN" sz="1600" b="0" i="0" u="none" strike="noStrike" kern="1200" dirty="0" err="1">
                          <a:solidFill>
                            <a:schemeClr val="dk1"/>
                          </a:solidFill>
                          <a:effectLst/>
                          <a:latin typeface="+mn-lt"/>
                          <a:ea typeface="+mn-ea"/>
                          <a:cs typeface="+mn-cs"/>
                        </a:rPr>
                        <a:t>Zenghui</a:t>
                      </a:r>
                      <a:r>
                        <a:rPr lang="en-IN" sz="1600" b="0" i="0" u="none" strike="noStrike" kern="1200" dirty="0">
                          <a:solidFill>
                            <a:schemeClr val="dk1"/>
                          </a:solidFill>
                          <a:effectLst/>
                          <a:latin typeface="+mn-lt"/>
                          <a:ea typeface="+mn-ea"/>
                          <a:cs typeface="+mn-cs"/>
                        </a:rPr>
                        <a:t> Liu</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GB" sz="1600" dirty="0">
                          <a:latin typeface="Times New Roman" panose="02020603050405020304" pitchFamily="18" charset="0"/>
                          <a:cs typeface="Times New Roman" panose="02020603050405020304" pitchFamily="18" charset="0"/>
                        </a:rPr>
                        <a:t>2022</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b="0" i="0" kern="1200" dirty="0">
                          <a:solidFill>
                            <a:schemeClr val="dk1"/>
                          </a:solidFill>
                          <a:effectLst/>
                          <a:latin typeface="+mn-lt"/>
                          <a:ea typeface="+mn-ea"/>
                          <a:cs typeface="+mn-cs"/>
                        </a:rPr>
                        <a:t>Hector-SLAM algorithm and Cartographer-SLAM algorithm, the test scenes are constructed through virtual reality technology </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99743755"/>
                  </a:ext>
                </a:extLst>
              </a:tr>
            </a:tbl>
          </a:graphicData>
        </a:graphic>
      </p:graphicFrame>
    </p:spTree>
    <p:extLst>
      <p:ext uri="{BB962C8B-B14F-4D97-AF65-F5344CB8AC3E}">
        <p14:creationId xmlns:p14="http://schemas.microsoft.com/office/powerpoint/2010/main" val="1115760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4AA1C-5C95-6ADA-3586-DF385CBA4C4F}"/>
              </a:ext>
            </a:extLst>
          </p:cNvPr>
          <p:cNvSpPr>
            <a:spLocks noGrp="1"/>
          </p:cNvSpPr>
          <p:nvPr>
            <p:ph type="title"/>
          </p:nvPr>
        </p:nvSpPr>
        <p:spPr/>
        <p:txBody>
          <a:bodyPr>
            <a:normAutofit/>
          </a:bodyPr>
          <a:lstStyle/>
          <a:p>
            <a:r>
              <a:rPr lang="en-US" sz="2800" b="1" dirty="0">
                <a:latin typeface="Arial" panose="020B0604020202020204" pitchFamily="34" charset="0"/>
                <a:cs typeface="Arial" panose="020B0604020202020204" pitchFamily="34" charset="0"/>
              </a:rPr>
              <a:t>EXISTING SYSTEM</a:t>
            </a:r>
            <a:r>
              <a:rPr lang="en-US" sz="2800" dirty="0">
                <a:latin typeface="Arial" panose="020B0604020202020204" pitchFamily="34" charset="0"/>
                <a:cs typeface="Arial" panose="020B0604020202020204" pitchFamily="34" charset="0"/>
              </a:rPr>
              <a:t>:</a:t>
            </a: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A6C5D7F-37B1-3337-287C-DB9812EE2E68}"/>
              </a:ext>
            </a:extLst>
          </p:cNvPr>
          <p:cNvSpPr>
            <a:spLocks noGrp="1"/>
          </p:cNvSpPr>
          <p:nvPr>
            <p:ph idx="1"/>
          </p:nvPr>
        </p:nvSpPr>
        <p:spPr>
          <a:xfrm>
            <a:off x="373626" y="1244184"/>
            <a:ext cx="11572568" cy="5323763"/>
          </a:xfrm>
        </p:spPr>
        <p:txBody>
          <a:bodyPr>
            <a:noAutofit/>
          </a:bodyPr>
          <a:lstStyle/>
          <a:p>
            <a:pPr algn="just">
              <a:lnSpc>
                <a:spcPct val="150000"/>
              </a:lnSpc>
            </a:pPr>
            <a:r>
              <a:rPr lang="en-US" sz="1800" dirty="0">
                <a:latin typeface="Arial" panose="020B0604020202020204" pitchFamily="34" charset="0"/>
                <a:cs typeface="Arial" panose="020B0604020202020204" pitchFamily="34" charset="0"/>
              </a:rPr>
              <a:t>In traditional coal mining environments, safety monitoring systems mainly focus on fixed environmental monitoring stations installed at specific underground locations. </a:t>
            </a:r>
          </a:p>
          <a:p>
            <a:pPr algn="just">
              <a:lnSpc>
                <a:spcPct val="150000"/>
              </a:lnSpc>
            </a:pPr>
            <a:r>
              <a:rPr lang="en-US" sz="1800" dirty="0">
                <a:latin typeface="Arial" panose="020B0604020202020204" pitchFamily="34" charset="0"/>
                <a:cs typeface="Arial" panose="020B0604020202020204" pitchFamily="34" charset="0"/>
              </a:rPr>
              <a:t>These systems typically measure parameters such as gas concentration, temperature, and humidity using stationary sensors. </a:t>
            </a:r>
          </a:p>
          <a:p>
            <a:pPr algn="just">
              <a:lnSpc>
                <a:spcPct val="150000"/>
              </a:lnSpc>
            </a:pPr>
            <a:r>
              <a:rPr lang="en-US" sz="1800" dirty="0">
                <a:latin typeface="Arial" panose="020B0604020202020204" pitchFamily="34" charset="0"/>
                <a:cs typeface="Arial" panose="020B0604020202020204" pitchFamily="34" charset="0"/>
              </a:rPr>
              <a:t>However, they do not continuously monitor individual workers’ health conditions. In many cases, if a worker moves away from a fixed monitoring area or enters a remote tunnel, hazardous conditions such as methane leakage, carbon monoxide exposure, or oxygen deficiency may go undetected. </a:t>
            </a:r>
          </a:p>
          <a:p>
            <a:pPr algn="just">
              <a:lnSpc>
                <a:spcPct val="150000"/>
              </a:lnSpc>
            </a:pPr>
            <a:r>
              <a:rPr lang="en-US" sz="1800" dirty="0">
                <a:latin typeface="Arial" panose="020B0604020202020204" pitchFamily="34" charset="0"/>
                <a:cs typeface="Arial" panose="020B0604020202020204" pitchFamily="34" charset="0"/>
              </a:rPr>
              <a:t>Additionally, traditional systems lack fall detection and real-time physiological monitoring such as SpO₂ and body temperature. Emergency response is often delayed because supervisors may not immediately know the exact condition or status of the worker. </a:t>
            </a:r>
          </a:p>
          <a:p>
            <a:pPr algn="just">
              <a:lnSpc>
                <a:spcPct val="150000"/>
              </a:lnSpc>
            </a:pPr>
            <a:r>
              <a:rPr lang="en-US" sz="1800" dirty="0">
                <a:latin typeface="Arial" panose="020B0604020202020204" pitchFamily="34" charset="0"/>
                <a:cs typeface="Arial" panose="020B0604020202020204" pitchFamily="34" charset="0"/>
              </a:rPr>
              <a:t>Therefore, existing systems are limited in providing comprehensive, real-time, and personalized safety monitoring for coal mining laborers.</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9116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69284-50A3-A783-829C-D4D6F4608349}"/>
              </a:ext>
            </a:extLst>
          </p:cNvPr>
          <p:cNvSpPr>
            <a:spLocks noGrp="1"/>
          </p:cNvSpPr>
          <p:nvPr>
            <p:ph type="title"/>
          </p:nvPr>
        </p:nvSpPr>
        <p:spPr>
          <a:xfrm>
            <a:off x="270387" y="-190929"/>
            <a:ext cx="10354364" cy="1570024"/>
          </a:xfrm>
        </p:spPr>
        <p:txBody>
          <a:bodyPr>
            <a:normAutofit/>
          </a:bodyPr>
          <a:lstStyle/>
          <a:p>
            <a:r>
              <a:rPr lang="en-US" sz="2800" b="1" dirty="0">
                <a:latin typeface="Arial" panose="020B0604020202020204" pitchFamily="34" charset="0"/>
                <a:cs typeface="Arial" panose="020B0604020202020204" pitchFamily="34" charset="0"/>
              </a:rPr>
              <a:t>PROPOSED</a:t>
            </a:r>
            <a:r>
              <a:rPr lang="en-US" sz="3600" b="1" dirty="0">
                <a:latin typeface="Arial" panose="020B0604020202020204" pitchFamily="34" charset="0"/>
                <a:cs typeface="Arial" panose="020B0604020202020204" pitchFamily="34" charset="0"/>
              </a:rPr>
              <a:t> </a:t>
            </a:r>
            <a:r>
              <a:rPr lang="en-US" sz="2800" b="1" dirty="0">
                <a:latin typeface="Arial" panose="020B0604020202020204" pitchFamily="34" charset="0"/>
                <a:cs typeface="Arial" panose="020B0604020202020204" pitchFamily="34" charset="0"/>
              </a:rPr>
              <a:t>METHOD</a:t>
            </a:r>
            <a:r>
              <a:rPr lang="en-US" sz="3600" b="1" dirty="0">
                <a:latin typeface="Arial" panose="020B0604020202020204" pitchFamily="34" charset="0"/>
                <a:cs typeface="Arial" panose="020B0604020202020204" pitchFamily="34" charset="0"/>
              </a:rPr>
              <a:t>:</a:t>
            </a:r>
            <a:endParaRPr lang="en-IN" sz="36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3083CF0-7636-76F5-8046-CA32DCE9B651}"/>
              </a:ext>
            </a:extLst>
          </p:cNvPr>
          <p:cNvSpPr>
            <a:spLocks noGrp="1"/>
          </p:cNvSpPr>
          <p:nvPr>
            <p:ph idx="1"/>
          </p:nvPr>
        </p:nvSpPr>
        <p:spPr>
          <a:xfrm>
            <a:off x="270387" y="884419"/>
            <a:ext cx="11651226" cy="5711252"/>
          </a:xfrm>
        </p:spPr>
        <p:txBody>
          <a:bodyPr>
            <a:noAutofit/>
          </a:bodyPr>
          <a:lstStyle/>
          <a:p>
            <a:pPr algn="just">
              <a:lnSpc>
                <a:spcPct val="150000"/>
              </a:lnSpc>
            </a:pPr>
            <a:r>
              <a:rPr lang="en-US" sz="1800" dirty="0">
                <a:latin typeface="Arial" panose="020B0604020202020204" pitchFamily="34" charset="0"/>
                <a:cs typeface="Arial" panose="020B0604020202020204" pitchFamily="34" charset="0"/>
              </a:rPr>
              <a:t>The proposed system introduces a wearable IoT-based smart safety solution integrated into a helmet and jacket for coal mining workers. </a:t>
            </a:r>
          </a:p>
          <a:p>
            <a:pPr algn="just">
              <a:lnSpc>
                <a:spcPct val="150000"/>
              </a:lnSpc>
            </a:pPr>
            <a:r>
              <a:rPr lang="en-US" sz="1800" dirty="0">
                <a:latin typeface="Arial" panose="020B0604020202020204" pitchFamily="34" charset="0"/>
                <a:cs typeface="Arial" panose="020B0604020202020204" pitchFamily="34" charset="0"/>
              </a:rPr>
              <a:t>The helmet unit includes a DHT11 sensor for temperature and humidity monitoring, a gas sensor (MQ series) for detecting toxic gases, and an IMU sensor (MPU6050) for detecting tilt angle and fall conditions. </a:t>
            </a:r>
          </a:p>
          <a:p>
            <a:pPr algn="just">
              <a:lnSpc>
                <a:spcPct val="150000"/>
              </a:lnSpc>
            </a:pPr>
            <a:r>
              <a:rPr lang="en-US" sz="1800" dirty="0">
                <a:latin typeface="Arial" panose="020B0604020202020204" pitchFamily="34" charset="0"/>
                <a:cs typeface="Arial" panose="020B0604020202020204" pitchFamily="34" charset="0"/>
              </a:rPr>
              <a:t>The jacket unit incorporates a SpO₂ sensor (MAX30100/MAX30102) to monitor blood oxygen levels, a body temperature sensor, and a pressure sensor (BMP280) to detect underground atmospheric changes. </a:t>
            </a:r>
          </a:p>
          <a:p>
            <a:pPr algn="just">
              <a:lnSpc>
                <a:spcPct val="150000"/>
              </a:lnSpc>
            </a:pPr>
            <a:r>
              <a:rPr lang="en-US" sz="1800" dirty="0">
                <a:latin typeface="Arial" panose="020B0604020202020204" pitchFamily="34" charset="0"/>
                <a:cs typeface="Arial" panose="020B0604020202020204" pitchFamily="34" charset="0"/>
              </a:rPr>
              <a:t>All sensors are connected to a central microcontroller such as ESP32, which processes the data and compares it with predefined safety thresholds. </a:t>
            </a:r>
          </a:p>
          <a:p>
            <a:pPr algn="just">
              <a:lnSpc>
                <a:spcPct val="150000"/>
              </a:lnSpc>
            </a:pPr>
            <a:r>
              <a:rPr lang="en-US" sz="1800" dirty="0">
                <a:latin typeface="Arial" panose="020B0604020202020204" pitchFamily="34" charset="0"/>
                <a:cs typeface="Arial" panose="020B0604020202020204" pitchFamily="34" charset="0"/>
              </a:rPr>
              <a:t>The system transmits real-time data to a cloud platform or monitoring station via IoT communication. </a:t>
            </a:r>
          </a:p>
          <a:p>
            <a:pPr algn="just">
              <a:lnSpc>
                <a:spcPct val="150000"/>
              </a:lnSpc>
            </a:pPr>
            <a:r>
              <a:rPr lang="en-US" sz="1800" dirty="0">
                <a:latin typeface="Arial" panose="020B0604020202020204" pitchFamily="34" charset="0"/>
                <a:cs typeface="Arial" panose="020B0604020202020204" pitchFamily="34" charset="0"/>
              </a:rPr>
              <a:t>In case of abnormal conditions—such as high gas levels, low oxygen saturation, excessive temperature, or fall detection—the system triggers immediate alerts through a buzzer and sends notifications to supervisors. </a:t>
            </a:r>
          </a:p>
          <a:p>
            <a:pPr algn="just">
              <a:lnSpc>
                <a:spcPct val="150000"/>
              </a:lnSpc>
            </a:pP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51663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BE8DF-5875-C063-A99F-207DD8A37105}"/>
              </a:ext>
            </a:extLst>
          </p:cNvPr>
          <p:cNvSpPr>
            <a:spLocks noGrp="1"/>
          </p:cNvSpPr>
          <p:nvPr>
            <p:ph type="title"/>
          </p:nvPr>
        </p:nvSpPr>
        <p:spPr>
          <a:xfrm>
            <a:off x="376172" y="-168880"/>
            <a:ext cx="10797746" cy="1325563"/>
          </a:xfrm>
        </p:spPr>
        <p:txBody>
          <a:bodyPr>
            <a:normAutofit/>
          </a:bodyPr>
          <a:lstStyle/>
          <a:p>
            <a:r>
              <a:rPr lang="en-US" sz="2800" b="1" dirty="0">
                <a:latin typeface="Arial" panose="020B0604020202020204" pitchFamily="34" charset="0"/>
                <a:cs typeface="Arial" panose="020B0604020202020204" pitchFamily="34" charset="0"/>
              </a:rPr>
              <a:t>BLOCK DIAGRAM DESCRIPTION:</a:t>
            </a: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21A28F36-C5D8-E6B9-04FF-E33DE64FD9ED}"/>
              </a:ext>
            </a:extLst>
          </p:cNvPr>
          <p:cNvSpPr>
            <a:spLocks noGrp="1"/>
          </p:cNvSpPr>
          <p:nvPr>
            <p:ph idx="1"/>
          </p:nvPr>
        </p:nvSpPr>
        <p:spPr>
          <a:xfrm>
            <a:off x="255639" y="899410"/>
            <a:ext cx="11670890" cy="5958590"/>
          </a:xfrm>
        </p:spPr>
        <p:txBody>
          <a:bodyPr>
            <a:normAutofit/>
          </a:bodyPr>
          <a:lstStyle/>
          <a:p>
            <a:pPr algn="just">
              <a:lnSpc>
                <a:spcPct val="150000"/>
              </a:lnSpc>
            </a:pPr>
            <a:r>
              <a:rPr lang="en-US" sz="1800" dirty="0">
                <a:latin typeface="Arial" panose="020B0604020202020204" pitchFamily="34" charset="0"/>
                <a:cs typeface="Arial" panose="020B0604020202020204" pitchFamily="34" charset="0"/>
              </a:rPr>
              <a:t>The block diagram of the proposed system consists of five main sections: </a:t>
            </a:r>
            <a:r>
              <a:rPr lang="en-US" sz="1800" b="1" dirty="0">
                <a:latin typeface="Arial" panose="020B0604020202020204" pitchFamily="34" charset="0"/>
                <a:cs typeface="Arial" panose="020B0604020202020204" pitchFamily="34" charset="0"/>
              </a:rPr>
              <a:t>sensor unit, microcontroller unit, communication module, alert system, and monitoring system. </a:t>
            </a:r>
          </a:p>
          <a:p>
            <a:pPr algn="just">
              <a:lnSpc>
                <a:spcPct val="150000"/>
              </a:lnSpc>
            </a:pPr>
            <a:r>
              <a:rPr lang="en-US" sz="1800" dirty="0">
                <a:latin typeface="Arial" panose="020B0604020202020204" pitchFamily="34" charset="0"/>
                <a:cs typeface="Arial" panose="020B0604020202020204" pitchFamily="34" charset="0"/>
              </a:rPr>
              <a:t>The sensor unit is divided into two parts: helmet sensors (DHT11, gas sensor, and IMU) and jacket sensors (SpO₂, body temperature, and pressure sensor). These sensors continuously collect environmental and physiological data and send the signals to the microcontroller (ESP32). </a:t>
            </a:r>
          </a:p>
          <a:p>
            <a:pPr algn="just">
              <a:lnSpc>
                <a:spcPct val="150000"/>
              </a:lnSpc>
            </a:pPr>
            <a:r>
              <a:rPr lang="en-US" sz="1800" dirty="0">
                <a:latin typeface="Arial" panose="020B0604020202020204" pitchFamily="34" charset="0"/>
                <a:cs typeface="Arial" panose="020B0604020202020204" pitchFamily="34" charset="0"/>
              </a:rPr>
              <a:t>The microcontroller acts as the central processing unit, </a:t>
            </a:r>
            <a:r>
              <a:rPr lang="en-US" sz="1800" dirty="0" err="1">
                <a:latin typeface="Arial" panose="020B0604020202020204" pitchFamily="34" charset="0"/>
                <a:cs typeface="Arial" panose="020B0604020202020204" pitchFamily="34" charset="0"/>
              </a:rPr>
              <a:t>analysing</a:t>
            </a:r>
            <a:r>
              <a:rPr lang="en-US" sz="1800" dirty="0">
                <a:latin typeface="Arial" panose="020B0604020202020204" pitchFamily="34" charset="0"/>
                <a:cs typeface="Arial" panose="020B0604020202020204" pitchFamily="34" charset="0"/>
              </a:rPr>
              <a:t> and comparing sensor readings with predefined safe limits. </a:t>
            </a:r>
          </a:p>
          <a:p>
            <a:pPr algn="just">
              <a:lnSpc>
                <a:spcPct val="150000"/>
              </a:lnSpc>
            </a:pPr>
            <a:r>
              <a:rPr lang="en-US" sz="1800" dirty="0">
                <a:latin typeface="Arial" panose="020B0604020202020204" pitchFamily="34" charset="0"/>
                <a:cs typeface="Arial" panose="020B0604020202020204" pitchFamily="34" charset="0"/>
              </a:rPr>
              <a:t>The communication module, integrated with Wi-Fi or GSM, transmits real-time data to a cloud server or control room monitoring system. The alert system includes a buzzer and LED indicators that activate when unsafe conditions are detected. Finally, the monitoring system displays worker data on a dashboard, enabling supervisors to track safety parameters and take immediate action during emergencies. </a:t>
            </a:r>
          </a:p>
          <a:p>
            <a:pPr algn="just">
              <a:lnSpc>
                <a:spcPct val="150000"/>
              </a:lnSpc>
            </a:pPr>
            <a:r>
              <a:rPr lang="en-US" sz="1800" dirty="0">
                <a:latin typeface="Arial" panose="020B0604020202020204" pitchFamily="34" charset="0"/>
                <a:cs typeface="Arial" panose="020B0604020202020204" pitchFamily="34" charset="0"/>
              </a:rPr>
              <a:t>This structured flow ensures real-time monitoring, rapid decision-making, and enhanced protection for coal mining workers.</a:t>
            </a:r>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3667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BD942-7C2E-07CA-8392-2140F4F0CF56}"/>
              </a:ext>
            </a:extLst>
          </p:cNvPr>
          <p:cNvSpPr>
            <a:spLocks noGrp="1"/>
          </p:cNvSpPr>
          <p:nvPr>
            <p:ph type="title"/>
          </p:nvPr>
        </p:nvSpPr>
        <p:spPr>
          <a:xfrm>
            <a:off x="838200" y="365126"/>
            <a:ext cx="10515600" cy="647598"/>
          </a:xfrm>
        </p:spPr>
        <p:txBody>
          <a:bodyPr>
            <a:normAutofit/>
          </a:bodyPr>
          <a:lstStyle/>
          <a:p>
            <a:r>
              <a:rPr lang="en-US" sz="2800" b="1" dirty="0">
                <a:latin typeface="Arial" panose="020B0604020202020204" pitchFamily="34" charset="0"/>
                <a:cs typeface="Arial" panose="020B0604020202020204" pitchFamily="34" charset="0"/>
              </a:rPr>
              <a:t>BLOCK DIAGRAM:</a:t>
            </a:r>
            <a:endParaRPr lang="en-IN" sz="2800" b="1" dirty="0">
              <a:latin typeface="Arial" panose="020B0604020202020204" pitchFamily="34" charset="0"/>
              <a:cs typeface="Arial" panose="020B0604020202020204" pitchFamily="34" charset="0"/>
            </a:endParaRPr>
          </a:p>
        </p:txBody>
      </p:sp>
      <p:sp>
        <p:nvSpPr>
          <p:cNvPr id="4" name="Rectangle: Rounded Corners 3">
            <a:extLst>
              <a:ext uri="{FF2B5EF4-FFF2-40B4-BE49-F238E27FC236}">
                <a16:creationId xmlns:a16="http://schemas.microsoft.com/office/drawing/2014/main" id="{EBAE4F29-D4C5-FD6A-6A97-5FEDFBEAD2AF}"/>
              </a:ext>
            </a:extLst>
          </p:cNvPr>
          <p:cNvSpPr/>
          <p:nvPr/>
        </p:nvSpPr>
        <p:spPr>
          <a:xfrm>
            <a:off x="1307690" y="3307424"/>
            <a:ext cx="1445342" cy="75708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MQ6</a:t>
            </a:r>
          </a:p>
        </p:txBody>
      </p:sp>
      <p:sp>
        <p:nvSpPr>
          <p:cNvPr id="5" name="Rectangle 4">
            <a:extLst>
              <a:ext uri="{FF2B5EF4-FFF2-40B4-BE49-F238E27FC236}">
                <a16:creationId xmlns:a16="http://schemas.microsoft.com/office/drawing/2014/main" id="{D6B0AA73-AEC2-898B-6878-7E83D4537478}"/>
              </a:ext>
            </a:extLst>
          </p:cNvPr>
          <p:cNvSpPr/>
          <p:nvPr/>
        </p:nvSpPr>
        <p:spPr>
          <a:xfrm>
            <a:off x="1307690" y="2317021"/>
            <a:ext cx="1543665" cy="64759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DHT11</a:t>
            </a:r>
          </a:p>
        </p:txBody>
      </p:sp>
      <p:sp>
        <p:nvSpPr>
          <p:cNvPr id="6" name="Rectangle: Rounded Corners 5">
            <a:extLst>
              <a:ext uri="{FF2B5EF4-FFF2-40B4-BE49-F238E27FC236}">
                <a16:creationId xmlns:a16="http://schemas.microsoft.com/office/drawing/2014/main" id="{60F45A1B-0DCE-29EA-C674-22F032E506B5}"/>
              </a:ext>
            </a:extLst>
          </p:cNvPr>
          <p:cNvSpPr/>
          <p:nvPr/>
        </p:nvSpPr>
        <p:spPr>
          <a:xfrm>
            <a:off x="3564196" y="2664639"/>
            <a:ext cx="3372463" cy="200946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HELMET</a:t>
            </a:r>
          </a:p>
        </p:txBody>
      </p:sp>
      <p:sp>
        <p:nvSpPr>
          <p:cNvPr id="7" name="Rectangle: Rounded Corners 6">
            <a:extLst>
              <a:ext uri="{FF2B5EF4-FFF2-40B4-BE49-F238E27FC236}">
                <a16:creationId xmlns:a16="http://schemas.microsoft.com/office/drawing/2014/main" id="{4B91E870-2109-E3C2-915C-0ADE5FD300B4}"/>
              </a:ext>
            </a:extLst>
          </p:cNvPr>
          <p:cNvSpPr/>
          <p:nvPr/>
        </p:nvSpPr>
        <p:spPr>
          <a:xfrm>
            <a:off x="1307690" y="4374128"/>
            <a:ext cx="1445342" cy="75708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IMU MEMS</a:t>
            </a:r>
          </a:p>
        </p:txBody>
      </p:sp>
      <p:cxnSp>
        <p:nvCxnSpPr>
          <p:cNvPr id="10" name="Straight Arrow Connector 9">
            <a:extLst>
              <a:ext uri="{FF2B5EF4-FFF2-40B4-BE49-F238E27FC236}">
                <a16:creationId xmlns:a16="http://schemas.microsoft.com/office/drawing/2014/main" id="{F51A812A-7B8F-8030-AF84-57159A768578}"/>
              </a:ext>
            </a:extLst>
          </p:cNvPr>
          <p:cNvCxnSpPr>
            <a:stCxn id="5" idx="3"/>
          </p:cNvCxnSpPr>
          <p:nvPr/>
        </p:nvCxnSpPr>
        <p:spPr>
          <a:xfrm>
            <a:off x="2851355" y="2640820"/>
            <a:ext cx="717755" cy="1810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9FF7E2C9-CCC6-E1CB-6A0A-98C8E07115DB}"/>
              </a:ext>
            </a:extLst>
          </p:cNvPr>
          <p:cNvCxnSpPr>
            <a:cxnSpLocks/>
            <a:endCxn id="6" idx="1"/>
          </p:cNvCxnSpPr>
          <p:nvPr/>
        </p:nvCxnSpPr>
        <p:spPr>
          <a:xfrm>
            <a:off x="2723536" y="3663103"/>
            <a:ext cx="840660" cy="6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790CC42F-7165-4F6B-644D-B11EFD301076}"/>
              </a:ext>
            </a:extLst>
          </p:cNvPr>
          <p:cNvCxnSpPr>
            <a:cxnSpLocks/>
          </p:cNvCxnSpPr>
          <p:nvPr/>
        </p:nvCxnSpPr>
        <p:spPr>
          <a:xfrm flipV="1">
            <a:off x="2787445" y="4460276"/>
            <a:ext cx="712841" cy="3027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A4877364-A68E-CEB8-C294-FA1DBA86DD2B}"/>
              </a:ext>
            </a:extLst>
          </p:cNvPr>
          <p:cNvSpPr/>
          <p:nvPr/>
        </p:nvSpPr>
        <p:spPr>
          <a:xfrm>
            <a:off x="7334865" y="2112805"/>
            <a:ext cx="1543665" cy="314632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ESP32</a:t>
            </a:r>
          </a:p>
        </p:txBody>
      </p:sp>
      <p:cxnSp>
        <p:nvCxnSpPr>
          <p:cNvPr id="17" name="Straight Arrow Connector 16">
            <a:extLst>
              <a:ext uri="{FF2B5EF4-FFF2-40B4-BE49-F238E27FC236}">
                <a16:creationId xmlns:a16="http://schemas.microsoft.com/office/drawing/2014/main" id="{4A37D043-839C-9656-ED88-9DC19D04CB9A}"/>
              </a:ext>
            </a:extLst>
          </p:cNvPr>
          <p:cNvCxnSpPr>
            <a:cxnSpLocks/>
          </p:cNvCxnSpPr>
          <p:nvPr/>
        </p:nvCxnSpPr>
        <p:spPr>
          <a:xfrm>
            <a:off x="6914535" y="3663103"/>
            <a:ext cx="4203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3573463-E311-9F3E-5530-00C0E0B8FF0E}"/>
              </a:ext>
            </a:extLst>
          </p:cNvPr>
          <p:cNvCxnSpPr>
            <a:cxnSpLocks/>
          </p:cNvCxnSpPr>
          <p:nvPr/>
        </p:nvCxnSpPr>
        <p:spPr>
          <a:xfrm flipH="1">
            <a:off x="8878530" y="3663103"/>
            <a:ext cx="54077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C2D9C297-EDF9-F6B2-3A76-7C3693BA4902}"/>
              </a:ext>
            </a:extLst>
          </p:cNvPr>
          <p:cNvSpPr/>
          <p:nvPr/>
        </p:nvSpPr>
        <p:spPr>
          <a:xfrm>
            <a:off x="9468464" y="2112805"/>
            <a:ext cx="2526891" cy="328510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dirty="0">
                <a:latin typeface="Times New Roman" panose="02020603050405020304" pitchFamily="18" charset="0"/>
                <a:cs typeface="Times New Roman" panose="02020603050405020304" pitchFamily="18" charset="0"/>
              </a:rPr>
              <a:t>Jacket</a:t>
            </a:r>
            <a:endParaRPr lang="en-IN" dirty="0"/>
          </a:p>
        </p:txBody>
      </p:sp>
      <p:sp>
        <p:nvSpPr>
          <p:cNvPr id="23" name="Rectangle: Rounded Corners 22">
            <a:extLst>
              <a:ext uri="{FF2B5EF4-FFF2-40B4-BE49-F238E27FC236}">
                <a16:creationId xmlns:a16="http://schemas.microsoft.com/office/drawing/2014/main" id="{B22C0CF9-3CB6-7E4F-F8F9-98238F5CA341}"/>
              </a:ext>
            </a:extLst>
          </p:cNvPr>
          <p:cNvSpPr/>
          <p:nvPr/>
        </p:nvSpPr>
        <p:spPr>
          <a:xfrm>
            <a:off x="9689692" y="2456036"/>
            <a:ext cx="1012722" cy="55060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TEMP</a:t>
            </a:r>
          </a:p>
        </p:txBody>
      </p:sp>
      <p:sp>
        <p:nvSpPr>
          <p:cNvPr id="24" name="Rectangle: Rounded Corners 23">
            <a:extLst>
              <a:ext uri="{FF2B5EF4-FFF2-40B4-BE49-F238E27FC236}">
                <a16:creationId xmlns:a16="http://schemas.microsoft.com/office/drawing/2014/main" id="{183C62A7-B979-C5A4-1E6C-E2CC32055071}"/>
              </a:ext>
            </a:extLst>
          </p:cNvPr>
          <p:cNvSpPr/>
          <p:nvPr/>
        </p:nvSpPr>
        <p:spPr>
          <a:xfrm>
            <a:off x="10038735" y="4251513"/>
            <a:ext cx="1632155" cy="63511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RESPIRATORY</a:t>
            </a:r>
          </a:p>
        </p:txBody>
      </p:sp>
      <p:sp>
        <p:nvSpPr>
          <p:cNvPr id="25" name="Rectangle: Rounded Corners 24">
            <a:extLst>
              <a:ext uri="{FF2B5EF4-FFF2-40B4-BE49-F238E27FC236}">
                <a16:creationId xmlns:a16="http://schemas.microsoft.com/office/drawing/2014/main" id="{5640F693-46AA-E404-B80A-73100F000ED5}"/>
              </a:ext>
            </a:extLst>
          </p:cNvPr>
          <p:cNvSpPr/>
          <p:nvPr/>
        </p:nvSpPr>
        <p:spPr>
          <a:xfrm>
            <a:off x="10847439" y="2414013"/>
            <a:ext cx="1012722" cy="55060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SPO2</a:t>
            </a:r>
          </a:p>
        </p:txBody>
      </p:sp>
      <p:cxnSp>
        <p:nvCxnSpPr>
          <p:cNvPr id="26" name="Straight Arrow Connector 25">
            <a:extLst>
              <a:ext uri="{FF2B5EF4-FFF2-40B4-BE49-F238E27FC236}">
                <a16:creationId xmlns:a16="http://schemas.microsoft.com/office/drawing/2014/main" id="{1485881F-A884-3E3F-3BE3-EC5F96BC7EAD}"/>
              </a:ext>
            </a:extLst>
          </p:cNvPr>
          <p:cNvCxnSpPr>
            <a:cxnSpLocks/>
          </p:cNvCxnSpPr>
          <p:nvPr/>
        </p:nvCxnSpPr>
        <p:spPr>
          <a:xfrm>
            <a:off x="8106697" y="5259127"/>
            <a:ext cx="0" cy="355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Rectangle: Rounded Corners 29">
            <a:extLst>
              <a:ext uri="{FF2B5EF4-FFF2-40B4-BE49-F238E27FC236}">
                <a16:creationId xmlns:a16="http://schemas.microsoft.com/office/drawing/2014/main" id="{CE622770-E8F4-FA0D-ED26-41FBACA75D64}"/>
              </a:ext>
            </a:extLst>
          </p:cNvPr>
          <p:cNvSpPr/>
          <p:nvPr/>
        </p:nvSpPr>
        <p:spPr>
          <a:xfrm>
            <a:off x="7472515" y="5637326"/>
            <a:ext cx="1474835" cy="6761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LCD</a:t>
            </a:r>
          </a:p>
        </p:txBody>
      </p:sp>
      <p:sp>
        <p:nvSpPr>
          <p:cNvPr id="31" name="Rectangle: Rounded Corners 30">
            <a:extLst>
              <a:ext uri="{FF2B5EF4-FFF2-40B4-BE49-F238E27FC236}">
                <a16:creationId xmlns:a16="http://schemas.microsoft.com/office/drawing/2014/main" id="{AE3525CD-70E6-7471-7B4E-16A973B4643B}"/>
              </a:ext>
            </a:extLst>
          </p:cNvPr>
          <p:cNvSpPr/>
          <p:nvPr/>
        </p:nvSpPr>
        <p:spPr>
          <a:xfrm>
            <a:off x="7334865" y="989076"/>
            <a:ext cx="1445342" cy="75708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POWER</a:t>
            </a:r>
          </a:p>
        </p:txBody>
      </p:sp>
      <p:cxnSp>
        <p:nvCxnSpPr>
          <p:cNvPr id="32" name="Straight Arrow Connector 31">
            <a:extLst>
              <a:ext uri="{FF2B5EF4-FFF2-40B4-BE49-F238E27FC236}">
                <a16:creationId xmlns:a16="http://schemas.microsoft.com/office/drawing/2014/main" id="{2E41F646-9BE0-F5E9-8E28-021E19D0C5CB}"/>
              </a:ext>
            </a:extLst>
          </p:cNvPr>
          <p:cNvCxnSpPr>
            <a:cxnSpLocks/>
          </p:cNvCxnSpPr>
          <p:nvPr/>
        </p:nvCxnSpPr>
        <p:spPr>
          <a:xfrm>
            <a:off x="8106697" y="1757713"/>
            <a:ext cx="0" cy="3550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2672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D76F-CF19-36DB-D555-5FB29A0322C7}"/>
              </a:ext>
            </a:extLst>
          </p:cNvPr>
          <p:cNvSpPr>
            <a:spLocks noGrp="1"/>
          </p:cNvSpPr>
          <p:nvPr>
            <p:ph type="title"/>
          </p:nvPr>
        </p:nvSpPr>
        <p:spPr/>
        <p:txBody>
          <a:bodyPr>
            <a:normAutofit/>
          </a:bodyPr>
          <a:lstStyle/>
          <a:p>
            <a:r>
              <a:rPr lang="en-US" sz="2800" b="1" dirty="0">
                <a:latin typeface="Arial" panose="020B0604020202020204" pitchFamily="34" charset="0"/>
                <a:cs typeface="Arial" panose="020B0604020202020204" pitchFamily="34" charset="0"/>
              </a:rPr>
              <a:t>HARDWARE REQUIREMENT:</a:t>
            </a:r>
            <a:endParaRPr lang="en-IN" sz="28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C7CA54BE-5774-9F8B-C36B-E02F6B5E5D61}"/>
              </a:ext>
            </a:extLst>
          </p:cNvPr>
          <p:cNvSpPr>
            <a:spLocks noGrp="1" noChangeArrowheads="1"/>
          </p:cNvSpPr>
          <p:nvPr>
            <p:ph idx="1"/>
          </p:nvPr>
        </p:nvSpPr>
        <p:spPr bwMode="auto">
          <a:xfrm>
            <a:off x="848497" y="1690688"/>
            <a:ext cx="10881852" cy="46115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ESP32 / ESP8266 Microcontroller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DHT11 Temperature &amp; Humidity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MQ-2 or MQ-7 Gas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MPU6050 IMU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MAX30100 / MAX30102 SpO₂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DS18B20 / LM35 Temperature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BMP280 Pressure Sensor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Buzzer</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Rechargeable Li-ion Battery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Resistors and connecting wires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PCB / Breadboard</a:t>
            </a:r>
          </a:p>
        </p:txBody>
      </p:sp>
    </p:spTree>
    <p:extLst>
      <p:ext uri="{BB962C8B-B14F-4D97-AF65-F5344CB8AC3E}">
        <p14:creationId xmlns:p14="http://schemas.microsoft.com/office/powerpoint/2010/main" val="2028416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26C5D-9B91-3269-54B6-03B7F9087813}"/>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SOFTWARE REQUIREMENTS:</a:t>
            </a:r>
            <a:br>
              <a:rPr lang="en-IN" sz="2800" b="1" dirty="0">
                <a:latin typeface="Arial" panose="020B0604020202020204" pitchFamily="34" charset="0"/>
                <a:cs typeface="Arial" panose="020B0604020202020204" pitchFamily="34" charset="0"/>
              </a:rPr>
            </a:br>
            <a:endParaRPr lang="en-IN" sz="28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90A41540-CAC2-6F39-417A-80BA8F29F22B}"/>
              </a:ext>
            </a:extLst>
          </p:cNvPr>
          <p:cNvSpPr>
            <a:spLocks noGrp="1"/>
          </p:cNvSpPr>
          <p:nvPr>
            <p:ph idx="1"/>
          </p:nvPr>
        </p:nvSpPr>
        <p:spPr/>
        <p:txBody>
          <a:bodyPr/>
          <a:lstStyle/>
          <a:p>
            <a:pPr>
              <a:lnSpc>
                <a:spcPct val="150000"/>
              </a:lnSpc>
            </a:pPr>
            <a:r>
              <a:rPr lang="en-IN" sz="1800" dirty="0">
                <a:latin typeface="Arial" panose="020B0604020202020204" pitchFamily="34" charset="0"/>
                <a:cs typeface="Arial" panose="020B0604020202020204" pitchFamily="34" charset="0"/>
              </a:rPr>
              <a:t>Arduino IDE </a:t>
            </a:r>
          </a:p>
          <a:p>
            <a:pPr>
              <a:lnSpc>
                <a:spcPct val="150000"/>
              </a:lnSpc>
            </a:pPr>
            <a:r>
              <a:rPr lang="en-IN" sz="1800" dirty="0">
                <a:latin typeface="Arial" panose="020B0604020202020204" pitchFamily="34" charset="0"/>
                <a:cs typeface="Arial" panose="020B0604020202020204" pitchFamily="34" charset="0"/>
              </a:rPr>
              <a:t>Embedded C / C++ Programming</a:t>
            </a:r>
          </a:p>
          <a:p>
            <a:pPr>
              <a:lnSpc>
                <a:spcPct val="150000"/>
              </a:lnSpc>
            </a:pPr>
            <a:r>
              <a:rPr lang="en-IN" sz="1800" dirty="0">
                <a:latin typeface="Arial" panose="020B0604020202020204" pitchFamily="34" charset="0"/>
                <a:cs typeface="Arial" panose="020B0604020202020204" pitchFamily="34" charset="0"/>
              </a:rPr>
              <a:t>IoT Cloud Platform</a:t>
            </a:r>
          </a:p>
          <a:p>
            <a:pPr>
              <a:lnSpc>
                <a:spcPct val="150000"/>
              </a:lnSpc>
            </a:pPr>
            <a:r>
              <a:rPr lang="en-IN" sz="1800" dirty="0">
                <a:latin typeface="Arial" panose="020B0604020202020204" pitchFamily="34" charset="0"/>
                <a:cs typeface="Arial" panose="020B0604020202020204" pitchFamily="34" charset="0"/>
              </a:rPr>
              <a:t>Serial Monitor for debugging.</a:t>
            </a:r>
          </a:p>
          <a:p>
            <a:pPr marL="0" indent="0">
              <a:lnSpc>
                <a:spcPct val="150000"/>
              </a:lnSpc>
              <a:buNone/>
            </a:pPr>
            <a:endParaRPr lang="en-IN" sz="1800" dirty="0">
              <a:latin typeface="Arial" panose="020B0604020202020204" pitchFamily="34" charset="0"/>
              <a:cs typeface="Arial" panose="020B0604020202020204" pitchFamily="34"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36874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B3A30-C02B-B8DF-AB62-387CB9AEC4F2}"/>
              </a:ext>
            </a:extLst>
          </p:cNvPr>
          <p:cNvSpPr>
            <a:spLocks noGrp="1"/>
          </p:cNvSpPr>
          <p:nvPr>
            <p:ph type="title"/>
          </p:nvPr>
        </p:nvSpPr>
        <p:spPr>
          <a:xfrm>
            <a:off x="282146" y="-252712"/>
            <a:ext cx="10515600" cy="1325563"/>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sz="3100" b="1" dirty="0">
                <a:latin typeface="Arial" panose="020B0604020202020204" pitchFamily="34" charset="0"/>
                <a:cs typeface="Arial" panose="020B0604020202020204" pitchFamily="34" charset="0"/>
              </a:rPr>
              <a:t>ADVANTAGES</a:t>
            </a:r>
            <a:r>
              <a:rPr lang="en-US" sz="4000" b="1" dirty="0">
                <a:latin typeface="Arial" panose="020B0604020202020204" pitchFamily="34" charset="0"/>
                <a:cs typeface="Arial" panose="020B0604020202020204" pitchFamily="34" charset="0"/>
              </a:rPr>
              <a:t>:</a:t>
            </a:r>
            <a:br>
              <a:rPr lang="en-US" sz="4000" b="1" dirty="0">
                <a:latin typeface="Arial" panose="020B0604020202020204" pitchFamily="34" charset="0"/>
                <a:cs typeface="Arial" panose="020B0604020202020204" pitchFamily="34" charset="0"/>
              </a:rPr>
            </a:br>
            <a:endParaRPr lang="en-IN" sz="40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DDC724F8-DE87-A1FC-9336-281C6F20ECAA}"/>
              </a:ext>
            </a:extLst>
          </p:cNvPr>
          <p:cNvSpPr>
            <a:spLocks noGrp="1"/>
          </p:cNvSpPr>
          <p:nvPr>
            <p:ph idx="1"/>
          </p:nvPr>
        </p:nvSpPr>
        <p:spPr>
          <a:xfrm>
            <a:off x="516924" y="840259"/>
            <a:ext cx="10515600" cy="4681795"/>
          </a:xfrm>
        </p:spPr>
        <p:txBody>
          <a:bodyPr/>
          <a:lstStyle/>
          <a:p>
            <a:pPr>
              <a:lnSpc>
                <a:spcPct val="150000"/>
              </a:lnSpc>
            </a:pPr>
            <a:r>
              <a:rPr lang="en-US" sz="1800" dirty="0">
                <a:latin typeface="Arial" panose="020B0604020202020204" pitchFamily="34" charset="0"/>
                <a:cs typeface="Arial" panose="020B0604020202020204" pitchFamily="34" charset="0"/>
              </a:rPr>
              <a:t>Real-time monitoring of both environmental and health parameters.</a:t>
            </a:r>
          </a:p>
          <a:p>
            <a:pPr>
              <a:lnSpc>
                <a:spcPct val="150000"/>
              </a:lnSpc>
            </a:pPr>
            <a:r>
              <a:rPr lang="en-US" sz="1800" dirty="0">
                <a:latin typeface="Arial" panose="020B0604020202020204" pitchFamily="34" charset="0"/>
                <a:cs typeface="Arial" panose="020B0604020202020204" pitchFamily="34" charset="0"/>
              </a:rPr>
              <a:t>Early detection of toxic gases and oxygen deficiency.</a:t>
            </a:r>
          </a:p>
          <a:p>
            <a:pPr>
              <a:lnSpc>
                <a:spcPct val="150000"/>
              </a:lnSpc>
            </a:pPr>
            <a:r>
              <a:rPr lang="en-US" sz="1800" dirty="0">
                <a:latin typeface="Arial" panose="020B0604020202020204" pitchFamily="34" charset="0"/>
                <a:cs typeface="Arial" panose="020B0604020202020204" pitchFamily="34" charset="0"/>
              </a:rPr>
              <a:t>Fall detection using IMU sensor.</a:t>
            </a:r>
          </a:p>
          <a:p>
            <a:pPr>
              <a:lnSpc>
                <a:spcPct val="150000"/>
              </a:lnSpc>
            </a:pPr>
            <a:r>
              <a:rPr lang="en-US" sz="1800" dirty="0">
                <a:latin typeface="Arial" panose="020B0604020202020204" pitchFamily="34" charset="0"/>
                <a:cs typeface="Arial" panose="020B0604020202020204" pitchFamily="34" charset="0"/>
              </a:rPr>
              <a:t>Immediate alert system reduces rescue time.</a:t>
            </a:r>
          </a:p>
          <a:p>
            <a:pPr>
              <a:lnSpc>
                <a:spcPct val="150000"/>
              </a:lnSpc>
            </a:pPr>
            <a:r>
              <a:rPr lang="en-US" sz="1800" dirty="0">
                <a:latin typeface="Arial" panose="020B0604020202020204" pitchFamily="34" charset="0"/>
                <a:cs typeface="Arial" panose="020B0604020202020204" pitchFamily="34" charset="0"/>
              </a:rPr>
              <a:t>Portable and wearable design.</a:t>
            </a:r>
          </a:p>
          <a:p>
            <a:pPr>
              <a:lnSpc>
                <a:spcPct val="150000"/>
              </a:lnSpc>
            </a:pPr>
            <a:r>
              <a:rPr lang="en-US" sz="1800" dirty="0">
                <a:latin typeface="Arial" panose="020B0604020202020204" pitchFamily="34" charset="0"/>
                <a:cs typeface="Arial" panose="020B0604020202020204" pitchFamily="34" charset="0"/>
              </a:rPr>
              <a:t>Cost-effective compared to large industrial monitoring systems.</a:t>
            </a:r>
          </a:p>
          <a:p>
            <a:pPr>
              <a:lnSpc>
                <a:spcPct val="150000"/>
              </a:lnSpc>
            </a:pPr>
            <a:r>
              <a:rPr lang="en-US" sz="1800" dirty="0">
                <a:latin typeface="Arial" panose="020B0604020202020204" pitchFamily="34" charset="0"/>
                <a:cs typeface="Arial" panose="020B0604020202020204" pitchFamily="34" charset="0"/>
              </a:rPr>
              <a:t>Scalable for multiple workers.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62489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C1DD0-5DF1-187D-3CDE-5A89AFAA7E64}"/>
              </a:ext>
            </a:extLst>
          </p:cNvPr>
          <p:cNvSpPr>
            <a:spLocks noGrp="1"/>
          </p:cNvSpPr>
          <p:nvPr>
            <p:ph type="title"/>
          </p:nvPr>
        </p:nvSpPr>
        <p:spPr>
          <a:xfrm>
            <a:off x="121508" y="-227999"/>
            <a:ext cx="10515600" cy="1325563"/>
          </a:xfrm>
        </p:spPr>
        <p:txBody>
          <a:bodyPr>
            <a:normAutofit/>
          </a:bodyPr>
          <a:lstStyle/>
          <a:p>
            <a:r>
              <a:rPr lang="en-IN" sz="2800" b="1" dirty="0">
                <a:latin typeface="Arial" panose="020B0604020202020204" pitchFamily="34" charset="0"/>
                <a:cs typeface="Arial" panose="020B0604020202020204" pitchFamily="34" charset="0"/>
              </a:rPr>
              <a:t>DISADVANTAGES:</a:t>
            </a:r>
            <a:endParaRPr lang="en-IN" sz="3600" b="1"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38736AD7-26DB-E516-9911-BC8B9F8BB295}"/>
              </a:ext>
            </a:extLst>
          </p:cNvPr>
          <p:cNvSpPr>
            <a:spLocks noGrp="1" noChangeArrowheads="1"/>
          </p:cNvSpPr>
          <p:nvPr>
            <p:ph idx="1"/>
          </p:nvPr>
        </p:nvSpPr>
        <p:spPr bwMode="auto">
          <a:xfrm>
            <a:off x="582029" y="926906"/>
            <a:ext cx="8758084" cy="2118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Dependence on network connectivity.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Sensor calibration required for accurate readings.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Battery life limitations.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Initial installation and setup cost.</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Wearable comfort considerations.</a:t>
            </a:r>
          </a:p>
        </p:txBody>
      </p:sp>
    </p:spTree>
    <p:extLst>
      <p:ext uri="{BB962C8B-B14F-4D97-AF65-F5344CB8AC3E}">
        <p14:creationId xmlns:p14="http://schemas.microsoft.com/office/powerpoint/2010/main" val="2465939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6BB1-7887-FCE2-09C6-B055C5ABB7EE}"/>
              </a:ext>
            </a:extLst>
          </p:cNvPr>
          <p:cNvSpPr>
            <a:spLocks noGrp="1"/>
          </p:cNvSpPr>
          <p:nvPr>
            <p:ph type="title"/>
          </p:nvPr>
        </p:nvSpPr>
        <p:spPr>
          <a:xfrm>
            <a:off x="733269" y="0"/>
            <a:ext cx="10515600" cy="1325563"/>
          </a:xfrm>
        </p:spPr>
        <p:txBody>
          <a:bodyPr>
            <a:normAutofit/>
          </a:bodyPr>
          <a:lstStyle/>
          <a:p>
            <a:r>
              <a:rPr lang="en-IN" sz="2800" b="1" dirty="0">
                <a:latin typeface="Arial" panose="020B0604020202020204" pitchFamily="34" charset="0"/>
                <a:cs typeface="Arial" panose="020B0604020202020204" pitchFamily="34" charset="0"/>
              </a:rPr>
              <a:t>RESULT:</a:t>
            </a:r>
          </a:p>
        </p:txBody>
      </p:sp>
      <p:pic>
        <p:nvPicPr>
          <p:cNvPr id="10" name="Content Placeholder 9">
            <a:extLst>
              <a:ext uri="{FF2B5EF4-FFF2-40B4-BE49-F238E27FC236}">
                <a16:creationId xmlns:a16="http://schemas.microsoft.com/office/drawing/2014/main" id="{BA3103AD-ADCE-2DF3-FFFF-EA5D72FD822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rot="16200000">
            <a:off x="4628113" y="2274293"/>
            <a:ext cx="2725912" cy="6190938"/>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C0BA72E9-7BE9-1CEB-90AB-C02C92D35C4D}"/>
              </a:ext>
            </a:extLst>
          </p:cNvPr>
          <p:cNvSpPr txBox="1"/>
          <p:nvPr/>
        </p:nvSpPr>
        <p:spPr>
          <a:xfrm>
            <a:off x="1543987" y="843677"/>
            <a:ext cx="9704882" cy="3373359"/>
          </a:xfrm>
          <a:prstGeom prst="rect">
            <a:avLst/>
          </a:prstGeom>
          <a:noFill/>
        </p:spPr>
        <p:txBody>
          <a:bodyPr wrap="square">
            <a:spAutoFit/>
          </a:bodyPr>
          <a:lstStyle/>
          <a:p>
            <a:pPr algn="just">
              <a:lnSpc>
                <a:spcPct val="150000"/>
              </a:lnSpc>
            </a:pPr>
            <a:r>
              <a:rPr lang="en-US" dirty="0"/>
              <a:t>The system continuously monitors the worker’s vital parameters and surrounding environmental conditions in real time. Whenever abnormal conditions such as high gas concentration, low oxygen level, or increased body temperature are detected, the system immediately generates alerts to both the worker and the control room, allowing quick preventive measures. The  results demonstrated that the smart jacket effectively detected hazardous gases such as methane and carbon monoxide, which are common causes of mining accidents and explosions. Additionally, geological sensors such as vibration and tilt sensors successfully identified early signs of rock falls, mine collapse, and structural instability</a:t>
            </a:r>
            <a:endParaRPr lang="en-IN" dirty="0"/>
          </a:p>
        </p:txBody>
      </p:sp>
    </p:spTree>
    <p:extLst>
      <p:ext uri="{BB962C8B-B14F-4D97-AF65-F5344CB8AC3E}">
        <p14:creationId xmlns:p14="http://schemas.microsoft.com/office/powerpoint/2010/main" val="182103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F87AF-AA5A-4647-FF7E-A8E4D0ECEE77}"/>
              </a:ext>
            </a:extLst>
          </p:cNvPr>
          <p:cNvSpPr>
            <a:spLocks noGrp="1"/>
          </p:cNvSpPr>
          <p:nvPr>
            <p:ph type="title"/>
          </p:nvPr>
        </p:nvSpPr>
        <p:spPr/>
        <p:txBody>
          <a:bodyPr>
            <a:normAutofit/>
          </a:bodyPr>
          <a:lstStyle/>
          <a:p>
            <a:r>
              <a:rPr lang="en-IN" sz="2800" b="1" dirty="0">
                <a:latin typeface="Arial" panose="020B0604020202020204" pitchFamily="34" charset="0"/>
                <a:cs typeface="Arial" panose="020B0604020202020204" pitchFamily="34" charset="0"/>
              </a:rPr>
              <a:t>CONCLUSION:</a:t>
            </a:r>
          </a:p>
        </p:txBody>
      </p:sp>
      <p:sp>
        <p:nvSpPr>
          <p:cNvPr id="3" name="Content Placeholder 2">
            <a:extLst>
              <a:ext uri="{FF2B5EF4-FFF2-40B4-BE49-F238E27FC236}">
                <a16:creationId xmlns:a16="http://schemas.microsoft.com/office/drawing/2014/main" id="{5C143C38-F153-E0F6-2A93-4E100B02CEBA}"/>
              </a:ext>
            </a:extLst>
          </p:cNvPr>
          <p:cNvSpPr>
            <a:spLocks noGrp="1"/>
          </p:cNvSpPr>
          <p:nvPr>
            <p:ph idx="1"/>
          </p:nvPr>
        </p:nvSpPr>
        <p:spPr>
          <a:xfrm>
            <a:off x="294968" y="1396180"/>
            <a:ext cx="11602064" cy="5014452"/>
          </a:xfrm>
        </p:spPr>
        <p:txBody>
          <a:bodyPr>
            <a:normAutofit fontScale="85000" lnSpcReduction="20000"/>
          </a:bodyPr>
          <a:lstStyle/>
          <a:p>
            <a:pPr algn="just">
              <a:lnSpc>
                <a:spcPct val="150000"/>
              </a:lnSpc>
            </a:pPr>
            <a:r>
              <a:rPr lang="en-US" sz="1900" dirty="0">
                <a:latin typeface="Arial" panose="020B0604020202020204" pitchFamily="34" charset="0"/>
                <a:cs typeface="Arial" panose="020B0604020202020204" pitchFamily="34" charset="0"/>
              </a:rPr>
              <a:t>The proposed wearable IoT-based safety system for coal mining workers provides an effective and reliable solution to enhance occupational safety in hazardous underground environments. By integrating environmental monitoring sensors such as DHT11 (temperature and humidity), MQ-series gas sensors, and MPU6050 IMU sensors in the helmet, along with physiological monitoring sensors such as MAX30100/MAX30102 SpO₂ sensor, body temperature sensor, and BMP280 pressure sensor in the jacket, the system ensures comprehensive real-time monitoring of both workplace conditions and worker health.</a:t>
            </a:r>
          </a:p>
          <a:p>
            <a:pPr algn="just">
              <a:lnSpc>
                <a:spcPct val="150000"/>
              </a:lnSpc>
            </a:pPr>
            <a:r>
              <a:rPr lang="en-US" sz="1900" dirty="0">
                <a:latin typeface="Arial" panose="020B0604020202020204" pitchFamily="34" charset="0"/>
                <a:cs typeface="Arial" panose="020B0604020202020204" pitchFamily="34" charset="0"/>
              </a:rPr>
              <a:t>The use of an ESP32 microcontroller with IoT connectivity enables continuous data transmission to a remote monitoring station or cloud platform. In emergencies such as toxic gas leakage, oxygen deficiency, abnormal body temperature, or fall detection, the system generates immediate alerts, thereby reducing rescue time and preventing fatal accidents. Compared to traditional fixed monitoring systems, this wearable solution offers </a:t>
            </a:r>
            <a:r>
              <a:rPr lang="en-US" sz="1900" dirty="0" err="1">
                <a:latin typeface="Arial" panose="020B0604020202020204" pitchFamily="34" charset="0"/>
                <a:cs typeface="Arial" panose="020B0604020202020204" pitchFamily="34" charset="0"/>
              </a:rPr>
              <a:t>personalised</a:t>
            </a:r>
            <a:r>
              <a:rPr lang="en-US" sz="1900" dirty="0">
                <a:latin typeface="Arial" panose="020B0604020202020204" pitchFamily="34" charset="0"/>
                <a:cs typeface="Arial" panose="020B0604020202020204" pitchFamily="34" charset="0"/>
              </a:rPr>
              <a:t> safety tracking, mobility, and improved responsiveness.</a:t>
            </a:r>
          </a:p>
          <a:p>
            <a:pPr algn="just">
              <a:lnSpc>
                <a:spcPct val="150000"/>
              </a:lnSpc>
            </a:pPr>
            <a:r>
              <a:rPr lang="en-US" sz="1900" dirty="0">
                <a:latin typeface="Arial" panose="020B0604020202020204" pitchFamily="34" charset="0"/>
                <a:cs typeface="Arial" panose="020B0604020202020204" pitchFamily="34" charset="0"/>
              </a:rPr>
              <a:t>Overall, the proposed system enhances safety standards in coal mining industries and provides a scalable, cost-effective, and technologically advanced approach to protecting mining </a:t>
            </a:r>
            <a:r>
              <a:rPr lang="en-US" sz="1900" dirty="0" err="1">
                <a:latin typeface="Arial" panose="020B0604020202020204" pitchFamily="34" charset="0"/>
                <a:cs typeface="Arial" panose="020B0604020202020204" pitchFamily="34" charset="0"/>
              </a:rPr>
              <a:t>labourers</a:t>
            </a:r>
            <a:r>
              <a:rPr lang="en-US" sz="1900" dirty="0">
                <a:latin typeface="Arial" panose="020B0604020202020204" pitchFamily="34" charset="0"/>
                <a:cs typeface="Arial" panose="020B0604020202020204" pitchFamily="34" charset="0"/>
              </a:rPr>
              <a:t>. Future integration with AI-based predictive systems and advanced communication technologies can further improve the effectiveness and reliability of the system.</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66667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4D6EC-AB3A-8A9C-A095-51D3461905AD}"/>
              </a:ext>
            </a:extLst>
          </p:cNvPr>
          <p:cNvSpPr>
            <a:spLocks noGrp="1"/>
          </p:cNvSpPr>
          <p:nvPr>
            <p:ph type="title"/>
          </p:nvPr>
        </p:nvSpPr>
        <p:spPr/>
        <p:txBody>
          <a:bodyPr/>
          <a:lstStyle/>
          <a:p>
            <a:r>
              <a:rPr lang="en-IN" sz="2800" b="1" dirty="0">
                <a:latin typeface="Arial" panose="020B0604020202020204" pitchFamily="34" charset="0"/>
                <a:cs typeface="Arial" panose="020B0604020202020204" pitchFamily="34" charset="0"/>
              </a:rPr>
              <a:t>REFERENCE PAPER:</a:t>
            </a:r>
            <a:endParaRPr lang="en-IN" dirty="0"/>
          </a:p>
        </p:txBody>
      </p:sp>
      <p:sp>
        <p:nvSpPr>
          <p:cNvPr id="3" name="Content Placeholder 2">
            <a:extLst>
              <a:ext uri="{FF2B5EF4-FFF2-40B4-BE49-F238E27FC236}">
                <a16:creationId xmlns:a16="http://schemas.microsoft.com/office/drawing/2014/main" id="{56D86769-A12C-31F5-524D-B65A30BBCA84}"/>
              </a:ext>
            </a:extLst>
          </p:cNvPr>
          <p:cNvSpPr>
            <a:spLocks noGrp="1"/>
          </p:cNvSpPr>
          <p:nvPr>
            <p:ph idx="1"/>
          </p:nvPr>
        </p:nvSpPr>
        <p:spPr>
          <a:xfrm>
            <a:off x="609600" y="1690688"/>
            <a:ext cx="10744200" cy="4486275"/>
          </a:xfrm>
        </p:spPr>
        <p:txBody>
          <a:bodyPr>
            <a:normAutofit/>
          </a:bodyPr>
          <a:lstStyle/>
          <a:p>
            <a:pPr algn="just">
              <a:lnSpc>
                <a:spcPct val="150000"/>
              </a:lnSpc>
            </a:pPr>
            <a:r>
              <a:rPr lang="en-IN" sz="1700" dirty="0">
                <a:latin typeface="Arial" panose="020B0604020202020204" pitchFamily="34" charset="0"/>
                <a:cs typeface="Arial" panose="020B0604020202020204" pitchFamily="34" charset="0"/>
              </a:rPr>
              <a:t>International Labour Organization (ILO), “Safety and Health in Coal Mines,” ILO Guidelines, Geneva.</a:t>
            </a:r>
          </a:p>
          <a:p>
            <a:pPr algn="just">
              <a:lnSpc>
                <a:spcPct val="150000"/>
              </a:lnSpc>
            </a:pPr>
            <a:r>
              <a:rPr lang="en-IN" sz="1700" dirty="0">
                <a:latin typeface="Arial" panose="020B0604020202020204" pitchFamily="34" charset="0"/>
                <a:cs typeface="Arial" panose="020B0604020202020204" pitchFamily="34" charset="0"/>
              </a:rPr>
              <a:t>World Health Organization (WHO), “Occupational Health and Safety in Hazardous Environments,” WHO Reports.</a:t>
            </a:r>
          </a:p>
          <a:p>
            <a:pPr algn="just">
              <a:lnSpc>
                <a:spcPct val="150000"/>
              </a:lnSpc>
            </a:pPr>
            <a:r>
              <a:rPr lang="en-IN" sz="1700" dirty="0">
                <a:latin typeface="Arial" panose="020B0604020202020204" pitchFamily="34" charset="0"/>
                <a:cs typeface="Arial" panose="020B0604020202020204" pitchFamily="34" charset="0"/>
              </a:rPr>
              <a:t>S. R. </a:t>
            </a:r>
            <a:r>
              <a:rPr lang="en-IN" sz="1700" dirty="0" err="1">
                <a:latin typeface="Arial" panose="020B0604020202020204" pitchFamily="34" charset="0"/>
                <a:cs typeface="Arial" panose="020B0604020202020204" pitchFamily="34" charset="0"/>
              </a:rPr>
              <a:t>Deivasigamani</a:t>
            </a:r>
            <a:r>
              <a:rPr lang="en-IN" sz="1700" dirty="0">
                <a:latin typeface="Arial" panose="020B0604020202020204" pitchFamily="34" charset="0"/>
                <a:cs typeface="Arial" panose="020B0604020202020204" pitchFamily="34" charset="0"/>
              </a:rPr>
              <a:t> et al., “IoT Based Smart Helmet for Coal Miners Safety,” </a:t>
            </a:r>
            <a:r>
              <a:rPr lang="en-IN" sz="1700" i="1" dirty="0">
                <a:latin typeface="Arial" panose="020B0604020202020204" pitchFamily="34" charset="0"/>
                <a:cs typeface="Arial" panose="020B0604020202020204" pitchFamily="34" charset="0"/>
              </a:rPr>
              <a:t>International Journal of Engineering Research &amp; Technology (IJERT)</a:t>
            </a:r>
            <a:r>
              <a:rPr lang="en-IN" sz="1700" dirty="0">
                <a:latin typeface="Arial" panose="020B0604020202020204" pitchFamily="34" charset="0"/>
                <a:cs typeface="Arial" panose="020B0604020202020204" pitchFamily="34" charset="0"/>
              </a:rPr>
              <a:t>, 2019.</a:t>
            </a:r>
          </a:p>
          <a:p>
            <a:pPr algn="just">
              <a:lnSpc>
                <a:spcPct val="150000"/>
              </a:lnSpc>
            </a:pPr>
            <a:r>
              <a:rPr lang="en-IN" sz="1700" dirty="0">
                <a:latin typeface="Arial" panose="020B0604020202020204" pitchFamily="34" charset="0"/>
                <a:cs typeface="Arial" panose="020B0604020202020204" pitchFamily="34" charset="0"/>
              </a:rPr>
              <a:t>A. Kumar and G. P. Hancke, “Energy Efficient Environment Monitoring System Based on Wireless Sensor Networks,” </a:t>
            </a:r>
            <a:r>
              <a:rPr lang="en-IN" sz="1700" i="1" dirty="0">
                <a:latin typeface="Arial" panose="020B0604020202020204" pitchFamily="34" charset="0"/>
                <a:cs typeface="Arial" panose="020B0604020202020204" pitchFamily="34" charset="0"/>
              </a:rPr>
              <a:t>IEEE Sensors Journal</a:t>
            </a:r>
            <a:r>
              <a:rPr lang="en-IN" sz="1700" dirty="0">
                <a:latin typeface="Arial" panose="020B0604020202020204" pitchFamily="34" charset="0"/>
                <a:cs typeface="Arial" panose="020B0604020202020204" pitchFamily="34" charset="0"/>
              </a:rPr>
              <a:t>, 2014.</a:t>
            </a:r>
          </a:p>
          <a:p>
            <a:pPr algn="just">
              <a:lnSpc>
                <a:spcPct val="150000"/>
              </a:lnSpc>
            </a:pPr>
            <a:r>
              <a:rPr lang="en-IN" sz="1700" dirty="0">
                <a:latin typeface="Arial" panose="020B0604020202020204" pitchFamily="34" charset="0"/>
                <a:cs typeface="Arial" panose="020B0604020202020204" pitchFamily="34" charset="0"/>
              </a:rPr>
              <a:t>L. K. Sharma et al., “Real-Time Gas Monitoring System for Underground Mines Using IoT,” </a:t>
            </a:r>
            <a:r>
              <a:rPr lang="en-IN" sz="1700" i="1" dirty="0">
                <a:latin typeface="Arial" panose="020B0604020202020204" pitchFamily="34" charset="0"/>
                <a:cs typeface="Arial" panose="020B0604020202020204" pitchFamily="34" charset="0"/>
              </a:rPr>
              <a:t>International Journal of Advanced Research in Computer and Communication Engineering (IJARCCE)</a:t>
            </a:r>
            <a:r>
              <a:rPr lang="en-IN" sz="1700" dirty="0">
                <a:latin typeface="Arial" panose="020B0604020202020204" pitchFamily="34" charset="0"/>
                <a:cs typeface="Arial" panose="020B0604020202020204" pitchFamily="34" charset="0"/>
              </a:rPr>
              <a:t>, 2018.</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030769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TotalTime>
  <Words>2618</Words>
  <Application>Microsoft Office PowerPoint</Application>
  <PresentationFormat>Widescreen</PresentationFormat>
  <Paragraphs>206</Paragraphs>
  <Slides>21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DEPARTMENT OF ELECTRONICS AND COMMUNICATION ENGINEERING  Eco-geological environmental coal mining protection based on wearers’ vital Smart jackets</vt:lpstr>
      <vt:lpstr>ABSTRACT:</vt:lpstr>
      <vt:lpstr>INTRODUCTION :</vt:lpstr>
      <vt:lpstr>PowerPoint Presentation</vt:lpstr>
      <vt:lpstr>PowerPoint Presentation</vt:lpstr>
      <vt:lpstr>OBJECTIVES: </vt:lpstr>
      <vt:lpstr>PowerPoint Presentation</vt:lpstr>
      <vt:lpstr>PowerPoint Presentation</vt:lpstr>
      <vt:lpstr>PowerPoint Presentation</vt:lpstr>
      <vt:lpstr>PowerPoint Presentation</vt:lpstr>
      <vt:lpstr>EXISTING SYSTEM:</vt:lpstr>
      <vt:lpstr>PROPOSED METHOD:</vt:lpstr>
      <vt:lpstr>BLOCK DIAGRAM DESCRIPTION:</vt:lpstr>
      <vt:lpstr>BLOCK DIAGRAM:</vt:lpstr>
      <vt:lpstr>HARDWARE REQUIREMENT:</vt:lpstr>
      <vt:lpstr>SOFTWARE REQUIREMENTS: </vt:lpstr>
      <vt:lpstr> ADVANTAGES: </vt:lpstr>
      <vt:lpstr>DISADVANTAGES:</vt:lpstr>
      <vt:lpstr>RESULT:</vt:lpstr>
      <vt:lpstr>CONCLUSION:</vt:lpstr>
      <vt:lpstr>REFERENCE PAPER: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BIKASH RITHIN</dc:creator>
  <cp:lastModifiedBy>Akash Arumugam</cp:lastModifiedBy>
  <cp:revision>29</cp:revision>
  <dcterms:created xsi:type="dcterms:W3CDTF">2026-02-13T09:14:49Z</dcterms:created>
  <dcterms:modified xsi:type="dcterms:W3CDTF">2026-04-17T05:07:21Z</dcterms:modified>
</cp:coreProperties>
</file>